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IBM Plex Sans" panose="020B0503050203000203" pitchFamily="34" charset="0"/>
      <p:regular r:id="rId18"/>
      <p:bold r:id="rId19"/>
    </p:embeddedFont>
    <p:embeddedFont>
      <p:font typeface="JetBrains Mono" panose="020B0604020202020204" charset="0"/>
      <p:regular r:id="rId20"/>
      <p:bold r:id="rId21"/>
    </p:embeddedFont>
    <p:embeddedFont>
      <p:font typeface="Space Grotesk" panose="020B0604020202020204"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AEA814-0213-496A-9579-D7F7EEDE4655}" v="4" dt="2026-10-23T17:28:54.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1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ha prasad" userId="6c97fe8958af52f9" providerId="LiveId" clId="{19D0260C-CE61-4DB6-961A-609E9267B137}"/>
    <pc:docChg chg="modSld modMainMaster">
      <pc:chgData name="trisha prasad" userId="6c97fe8958af52f9" providerId="LiveId" clId="{19D0260C-CE61-4DB6-961A-609E9267B137}" dt="2026-10-23T17:28:54.990" v="3"/>
      <pc:docMkLst>
        <pc:docMk/>
      </pc:docMkLst>
      <pc:sldChg chg="modTransition">
        <pc:chgData name="trisha prasad" userId="6c97fe8958af52f9" providerId="LiveId" clId="{19D0260C-CE61-4DB6-961A-609E9267B137}" dt="2026-10-23T17:28:54.990" v="3"/>
        <pc:sldMkLst>
          <pc:docMk/>
          <pc:sldMk cId="0" sldId="256"/>
        </pc:sldMkLst>
      </pc:sldChg>
      <pc:sldChg chg="modTransition">
        <pc:chgData name="trisha prasad" userId="6c97fe8958af52f9" providerId="LiveId" clId="{19D0260C-CE61-4DB6-961A-609E9267B137}" dt="2026-10-23T17:28:54.990" v="3"/>
        <pc:sldMkLst>
          <pc:docMk/>
          <pc:sldMk cId="0" sldId="257"/>
        </pc:sldMkLst>
      </pc:sldChg>
      <pc:sldChg chg="modTransition">
        <pc:chgData name="trisha prasad" userId="6c97fe8958af52f9" providerId="LiveId" clId="{19D0260C-CE61-4DB6-961A-609E9267B137}" dt="2026-10-23T17:28:54.990" v="3"/>
        <pc:sldMkLst>
          <pc:docMk/>
          <pc:sldMk cId="0" sldId="258"/>
        </pc:sldMkLst>
      </pc:sldChg>
      <pc:sldChg chg="modTransition">
        <pc:chgData name="trisha prasad" userId="6c97fe8958af52f9" providerId="LiveId" clId="{19D0260C-CE61-4DB6-961A-609E9267B137}" dt="2026-10-23T17:28:54.990" v="3"/>
        <pc:sldMkLst>
          <pc:docMk/>
          <pc:sldMk cId="0" sldId="259"/>
        </pc:sldMkLst>
      </pc:sldChg>
      <pc:sldChg chg="modTransition">
        <pc:chgData name="trisha prasad" userId="6c97fe8958af52f9" providerId="LiveId" clId="{19D0260C-CE61-4DB6-961A-609E9267B137}" dt="2026-10-23T17:28:54.990" v="3"/>
        <pc:sldMkLst>
          <pc:docMk/>
          <pc:sldMk cId="0" sldId="260"/>
        </pc:sldMkLst>
      </pc:sldChg>
      <pc:sldChg chg="modTransition">
        <pc:chgData name="trisha prasad" userId="6c97fe8958af52f9" providerId="LiveId" clId="{19D0260C-CE61-4DB6-961A-609E9267B137}" dt="2026-10-23T17:28:54.990" v="3"/>
        <pc:sldMkLst>
          <pc:docMk/>
          <pc:sldMk cId="0" sldId="261"/>
        </pc:sldMkLst>
      </pc:sldChg>
      <pc:sldChg chg="modTransition">
        <pc:chgData name="trisha prasad" userId="6c97fe8958af52f9" providerId="LiveId" clId="{19D0260C-CE61-4DB6-961A-609E9267B137}" dt="2026-10-23T17:28:54.990" v="3"/>
        <pc:sldMkLst>
          <pc:docMk/>
          <pc:sldMk cId="0" sldId="262"/>
        </pc:sldMkLst>
      </pc:sldChg>
      <pc:sldChg chg="modTransition">
        <pc:chgData name="trisha prasad" userId="6c97fe8958af52f9" providerId="LiveId" clId="{19D0260C-CE61-4DB6-961A-609E9267B137}" dt="2026-10-23T17:28:54.990" v="3"/>
        <pc:sldMkLst>
          <pc:docMk/>
          <pc:sldMk cId="0" sldId="263"/>
        </pc:sldMkLst>
      </pc:sldChg>
      <pc:sldChg chg="modTransition">
        <pc:chgData name="trisha prasad" userId="6c97fe8958af52f9" providerId="LiveId" clId="{19D0260C-CE61-4DB6-961A-609E9267B137}" dt="2026-10-23T17:28:54.990" v="3"/>
        <pc:sldMkLst>
          <pc:docMk/>
          <pc:sldMk cId="0" sldId="264"/>
        </pc:sldMkLst>
      </pc:sldChg>
      <pc:sldChg chg="modTransition">
        <pc:chgData name="trisha prasad" userId="6c97fe8958af52f9" providerId="LiveId" clId="{19D0260C-CE61-4DB6-961A-609E9267B137}" dt="2026-10-23T17:28:54.990" v="3"/>
        <pc:sldMkLst>
          <pc:docMk/>
          <pc:sldMk cId="0" sldId="265"/>
        </pc:sldMkLst>
      </pc:sldChg>
      <pc:sldChg chg="modTransition">
        <pc:chgData name="trisha prasad" userId="6c97fe8958af52f9" providerId="LiveId" clId="{19D0260C-CE61-4DB6-961A-609E9267B137}" dt="2026-10-23T17:28:54.990" v="3"/>
        <pc:sldMkLst>
          <pc:docMk/>
          <pc:sldMk cId="0" sldId="266"/>
        </pc:sldMkLst>
      </pc:sldChg>
      <pc:sldChg chg="modTransition">
        <pc:chgData name="trisha prasad" userId="6c97fe8958af52f9" providerId="LiveId" clId="{19D0260C-CE61-4DB6-961A-609E9267B137}" dt="2026-10-23T17:28:54.990" v="3"/>
        <pc:sldMkLst>
          <pc:docMk/>
          <pc:sldMk cId="0" sldId="267"/>
        </pc:sldMkLst>
      </pc:sldChg>
      <pc:sldChg chg="modTransition">
        <pc:chgData name="trisha prasad" userId="6c97fe8958af52f9" providerId="LiveId" clId="{19D0260C-CE61-4DB6-961A-609E9267B137}" dt="2026-10-23T17:28:54.990" v="3"/>
        <pc:sldMkLst>
          <pc:docMk/>
          <pc:sldMk cId="0" sldId="268"/>
        </pc:sldMkLst>
      </pc:sldChg>
      <pc:sldChg chg="modTransition">
        <pc:chgData name="trisha prasad" userId="6c97fe8958af52f9" providerId="LiveId" clId="{19D0260C-CE61-4DB6-961A-609E9267B137}" dt="2026-10-23T17:28:54.990" v="3"/>
        <pc:sldMkLst>
          <pc:docMk/>
          <pc:sldMk cId="0" sldId="269"/>
        </pc:sldMkLst>
      </pc:sldChg>
      <pc:sldChg chg="modTransition">
        <pc:chgData name="trisha prasad" userId="6c97fe8958af52f9" providerId="LiveId" clId="{19D0260C-CE61-4DB6-961A-609E9267B137}" dt="2026-10-23T17:28:54.990" v="3"/>
        <pc:sldMkLst>
          <pc:docMk/>
          <pc:sldMk cId="0" sldId="270"/>
        </pc:sldMkLst>
      </pc:sldChg>
      <pc:sldMasterChg chg="modTransition modSldLayout">
        <pc:chgData name="trisha prasad" userId="6c97fe8958af52f9" providerId="LiveId" clId="{19D0260C-CE61-4DB6-961A-609E9267B137}" dt="2026-10-23T17:28:54.990" v="3"/>
        <pc:sldMasterMkLst>
          <pc:docMk/>
          <pc:sldMasterMk cId="0" sldId="2147483648"/>
        </pc:sldMasterMkLst>
        <pc:sldLayoutChg chg="modTransition">
          <pc:chgData name="trisha prasad" userId="6c97fe8958af52f9" providerId="LiveId" clId="{19D0260C-CE61-4DB6-961A-609E9267B137}" dt="2026-10-23T17:28:54.990" v="3"/>
          <pc:sldLayoutMkLst>
            <pc:docMk/>
            <pc:sldMasterMk cId="0" sldId="2147483648"/>
            <pc:sldLayoutMk cId="0" sldId="2147483649"/>
          </pc:sldLayoutMkLst>
        </pc:sldLayoutChg>
        <pc:sldLayoutChg chg="modTransition">
          <pc:chgData name="trisha prasad" userId="6c97fe8958af52f9" providerId="LiveId" clId="{19D0260C-CE61-4DB6-961A-609E9267B137}" dt="2026-10-23T17:28:54.990" v="3"/>
          <pc:sldLayoutMkLst>
            <pc:docMk/>
            <pc:sldMasterMk cId="0" sldId="2147483648"/>
            <pc:sldLayoutMk cId="0" sldId="2147483650"/>
          </pc:sldLayoutMkLst>
        </pc:sldLayoutChg>
        <pc:sldLayoutChg chg="modTransition">
          <pc:chgData name="trisha prasad" userId="6c97fe8958af52f9" providerId="LiveId" clId="{19D0260C-CE61-4DB6-961A-609E9267B137}" dt="2026-10-23T17:28:54.990" v="3"/>
          <pc:sldLayoutMkLst>
            <pc:docMk/>
            <pc:sldMasterMk cId="0" sldId="2147483648"/>
            <pc:sldLayoutMk cId="0" sldId="2147483651"/>
          </pc:sldLayoutMkLst>
        </pc:sldLayoutChg>
        <pc:sldLayoutChg chg="modTransition">
          <pc:chgData name="trisha prasad" userId="6c97fe8958af52f9" providerId="LiveId" clId="{19D0260C-CE61-4DB6-961A-609E9267B137}" dt="2026-10-23T17:28:54.990" v="3"/>
          <pc:sldLayoutMkLst>
            <pc:docMk/>
            <pc:sldMasterMk cId="0" sldId="2147483648"/>
            <pc:sldLayoutMk cId="0" sldId="21474836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383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every traffic light is a qubit. One state means east–west green, the other north–south green. We choose the state of 16 lights over six 15-second slots, so 96 qubits, to give ambulances green without wrecking ordinary traffic. Then we prove each part works: the QUBO is tested against a direct cost function, QAOA reaches the proved optimum, and a traffic simulator checks the plans.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decisions are coupled: who goes where decides the routes, the routes decide which lights matter, and every light we flip for an ambulance costs ordinary drivers. Local preemption solves only the second, one light at a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is small but constrained, which is where a problem-aware mixer pays off. Signal timing is large but unconstrained, which is where decomposition is needed. The output of the first, the routes, feeds the second as preemption requests.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real output from the model: the exact optimum for the first city. Blue is east–west green; it dominates because this city has an east–west rush hour. The orange dots are the ambulance requests; filled dots are met by the plan.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is linear or a product of two binaries, so the whole problem is one QUBO with no constraints and no penalty tuning. The ambulance term is an expectation over arrival uncertainty: weight 0.6 on the nominal slot, 0.2 on each neighbour. The standard substitution x = (1 − Z)/2 gives an Ising Hamiltonian, which compiles to RZ and RZZ rotations.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fairness block: expanding μ(S − T/2)² with x² = x gives a linear coefficient μ(1 − T) and a 2μ coupling between every pair of slots at the same light. That is exactly what the code writes. The test on the right is the guarantee: the QUBO and a direct cost function agree on random plans, so any algebra slip would fail the suite.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a quantum audience. Instead of fighting the constraint with a penalty, we choose a mixer that commutes with the row-weight operator, so the evolution never leaves the subspace where each ambulance has exactly one incident. The gate is verified against Qiskit’s XXPlusYYGate in the tests. Result: about 9.5 times more valid assignments than penalty-only QAOA at the same depth (40.0% against 4.2%).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block-coordinate descent with a quantum block solver. Freezing the other variables is exact: their couplings become linear terms and a constant, so the 12-qubit sub-problem has exactly the energy of the full plan. The acceptance rule makes the loop safe to run on noisy hardware: a bad sample is simply rejected.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remember is about 1500 times a blind guess at p = 3: the circuit concentrates amplitude on the optimum. P(best) grows with depth because every depth is initialised from the interpolated angles of the one below, so p = 3 can never start worse than p = 2. We flag the warm-start result honestly: it starts from a good classical plan.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quantum runs start from the same random plan of cost 2364, except warm-start, which starts from the rule-based plan. Three random-sampling runs of the same 28 windows end between 1606 and 1627, so the QAOA distribution is doing real work. HiGHS also proves 1593 in a fraction of a second: we say so on the claims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onto heavy-hex roughly doubles the two-qubit gate count because the window’s coupling graph is not native to the chip. Noise flattens the distribution: ideal 26.5% falls to 2.2% at p = 2, which is still about 90 times a blind guess of 1 in 4096. This is the honest NISQ picture: deeper is better in theory and worse on today’s noise, so shallow circuits plus the accept-if-better loop is the right design. The hardware script is written but untested, since it needs an IBM account.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loss instead of hiding it. In City 1 the optimised plan is slower for ambulances than simple rule-based preemption, because the QUBO models queues approximately: a lower model cost does not guarantee a lower simulated delay. What the optimised plan does consistently is protect ordinary traffic, which rule-based preemption sacrifices. Every plan is simulated for the same 160 seconds, with the same demand and seeds, after an audit fixed a measurement window bug.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Ambulances never arrive exactly on schedule. Folding the arrival distribution into the cost costs nothing in qubits: it only spreads each request’s weight over three slots. Sampling real delays shows the robust plan misses less than half as many greens. This is evaluated in the model, not in SUMO.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before a judge asks. A quantum audience will respect a precise boundary more than an inflated claim. Every number in this deck is regenerated by one command, python -m qgw.pipeline, and the whole suite of 33 tests passes.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idea and invite questions. Good questions to be ready for: why QAOA if HiGHS is faster (method and scaling, no advantage claimed); why the XY mixer (constraint preserved by symmetry); why City 1 loses in SUMO (the QUBO approximates queues).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1220"/>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E9ED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501801"/>
            <a:ext cx="10566400" cy="3543399"/>
          </a:xfrm>
          <a:prstGeom prst="rect">
            <a:avLst/>
          </a:prstGeom>
          <a:noFill/>
          <a:ln/>
        </p:spPr>
        <p:txBody>
          <a:bodyPr wrap="square" lIns="0" tIns="0" rIns="0" bIns="0" rtlCol="0" anchor="t"/>
          <a:lstStyle>
            <a:lvl1pPr marL="0" indent="0" algn="l">
              <a:lnSpc>
                <a:spcPct val="140000"/>
              </a:lnSpc>
              <a:buNone/>
              <a:defRPr lang="en-US" sz="1600" dirty="0">
                <a:solidFill>
                  <a:srgbClr val="E9ED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1220"/>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E9ED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501801"/>
            <a:ext cx="10566400" cy="3543399"/>
          </a:xfrm>
          <a:prstGeom prst="rect">
            <a:avLst/>
          </a:prstGeom>
          <a:noFill/>
          <a:ln/>
        </p:spPr>
        <p:txBody>
          <a:bodyPr wrap="square" lIns="0" tIns="0" rIns="0" bIns="0" rtlCol="0" anchor="t"/>
          <a:lstStyle>
            <a:lvl1pPr marL="0" indent="0" algn="l">
              <a:lnSpc>
                <a:spcPct val="140000"/>
              </a:lnSpc>
              <a:buNone/>
              <a:defRPr lang="en-US" sz="1600" dirty="0">
                <a:solidFill>
                  <a:srgbClr val="E9ED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1220"/>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E9ED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501801"/>
            <a:ext cx="10566400" cy="3543399"/>
          </a:xfrm>
          <a:prstGeom prst="rect">
            <a:avLst/>
          </a:prstGeom>
          <a:noFill/>
          <a:ln/>
        </p:spPr>
        <p:txBody>
          <a:bodyPr wrap="square" lIns="0" tIns="0" rIns="0" bIns="0" rtlCol="0" anchor="t"/>
          <a:lstStyle>
            <a:lvl1pPr marL="0" indent="0" algn="l">
              <a:lnSpc>
                <a:spcPct val="140000"/>
              </a:lnSpc>
              <a:buNone/>
              <a:defRPr lang="en-US" sz="1600" dirty="0">
                <a:solidFill>
                  <a:srgbClr val="E9ED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1220"/>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E9ED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501801"/>
            <a:ext cx="10566400" cy="3543399"/>
          </a:xfrm>
          <a:prstGeom prst="rect">
            <a:avLst/>
          </a:prstGeom>
          <a:noFill/>
          <a:ln/>
        </p:spPr>
        <p:txBody>
          <a:bodyPr wrap="square" lIns="0" tIns="0" rIns="0" bIns="0" rtlCol="0" anchor="t"/>
          <a:lstStyle>
            <a:lvl1pPr marL="0" indent="0" algn="l">
              <a:lnSpc>
                <a:spcPct val="140000"/>
              </a:lnSpc>
              <a:buNone/>
              <a:defRPr lang="en-US" sz="1600" dirty="0">
                <a:solidFill>
                  <a:srgbClr val="E9ED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loch sphere with a state vector, the qubit picture of one traffic light"/>
          <p:cNvPicPr>
            <a:picLocks noChangeAspect="1"/>
          </p:cNvPicPr>
          <p:nvPr/>
        </p:nvPicPr>
        <p:blipFill>
          <a:blip r:embed="rId3"/>
          <a:srcRect/>
          <a:stretch/>
        </p:blipFill>
        <p:spPr>
          <a:xfrm>
            <a:off x="7366000" y="1460500"/>
            <a:ext cx="3937000" cy="3937000"/>
          </a:xfrm>
          <a:prstGeom prst="rect">
            <a:avLst/>
          </a:prstGeom>
        </p:spPr>
      </p:pic>
      <p:sp>
        <p:nvSpPr>
          <p:cNvPr id="3" name="Text 0"/>
          <p:cNvSpPr/>
          <p:nvPr/>
        </p:nvSpPr>
        <p:spPr>
          <a:xfrm>
            <a:off x="9144000" y="1181100"/>
            <a:ext cx="19621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3C7"/>
                </a:solidFill>
                <a:latin typeface="Times New Roman" panose="02020603050405020304" pitchFamily="18" charset="0"/>
                <a:ea typeface="JetBrains Mono" pitchFamily="49" charset="-122"/>
                <a:cs typeface="Times New Roman" panose="02020603050405020304" pitchFamily="18" charset="0"/>
              </a:rPr>
              <a:t>|0⟩ NS green</a:t>
            </a:r>
            <a:endParaRPr lang="en-US" sz="1400" dirty="0">
              <a:latin typeface="Times New Roman" panose="02020603050405020304" pitchFamily="18" charset="0"/>
              <a:cs typeface="Times New Roman" panose="02020603050405020304" pitchFamily="18" charset="0"/>
            </a:endParaRPr>
          </a:p>
        </p:txBody>
      </p:sp>
      <p:sp>
        <p:nvSpPr>
          <p:cNvPr id="4" name="Text 1"/>
          <p:cNvSpPr/>
          <p:nvPr/>
        </p:nvSpPr>
        <p:spPr>
          <a:xfrm>
            <a:off x="9144000" y="5461000"/>
            <a:ext cx="19621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3C7"/>
                </a:solidFill>
                <a:latin typeface="Times New Roman" panose="02020603050405020304" pitchFamily="18" charset="0"/>
                <a:ea typeface="JetBrains Mono" pitchFamily="49" charset="-122"/>
                <a:cs typeface="Times New Roman" panose="02020603050405020304" pitchFamily="18" charset="0"/>
              </a:rPr>
              <a:t>|1⟩ EW green</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812800" y="1503710"/>
            <a:ext cx="6553200"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QISKIT HACKATHON · QUANTUM OPTIMIZATION FOR SMART CITIES</a:t>
            </a:r>
            <a:endParaRPr lang="en-US" sz="1200" dirty="0">
              <a:latin typeface="Times New Roman" panose="02020603050405020304" pitchFamily="18" charset="0"/>
              <a:cs typeface="Times New Roman" panose="02020603050405020304" pitchFamily="18" charset="0"/>
            </a:endParaRPr>
          </a:p>
        </p:txBody>
      </p:sp>
      <p:sp>
        <p:nvSpPr>
          <p:cNvPr id="6" name="Text 3"/>
          <p:cNvSpPr>
            <a:spLocks noGrp="1"/>
          </p:cNvSpPr>
          <p:nvPr>
            <p:ph type="title"/>
          </p:nvPr>
        </p:nvSpPr>
        <p:spPr>
          <a:xfrm>
            <a:off x="812800" y="1945630"/>
            <a:ext cx="6867525" cy="1803400"/>
          </a:xfrm>
          <a:prstGeom prst="rect">
            <a:avLst/>
          </a:prstGeom>
          <a:noFill/>
          <a:ln/>
        </p:spPr>
        <p:txBody>
          <a:bodyPr wrap="square" lIns="0" tIns="0" rIns="0" bIns="0" rtlCol="0" anchor="t">
            <a:normAutofit/>
          </a:bodyPr>
          <a:lstStyle/>
          <a:p>
            <a:pPr marL="0" indent="0" algn="l">
              <a:lnSpc>
                <a:spcPts val="7000"/>
              </a:lnSpc>
              <a:buNone/>
            </a:pPr>
            <a:r>
              <a:rPr lang="en-US" sz="7000" b="1" i="0" kern="0" spc="-150" dirty="0">
                <a:solidFill>
                  <a:srgbClr val="E9EDF5"/>
                </a:solidFill>
                <a:latin typeface="Times New Roman" panose="02020603050405020304" pitchFamily="18" charset="0"/>
                <a:cs typeface="Times New Roman" panose="02020603050405020304" pitchFamily="18" charset="0"/>
              </a:rPr>
              <a:t>Quantum Green Wave</a:t>
            </a:r>
            <a:endParaRPr lang="en-US" sz="7000" dirty="0">
              <a:latin typeface="Times New Roman" panose="02020603050405020304" pitchFamily="18" charset="0"/>
              <a:cs typeface="Times New Roman" panose="02020603050405020304" pitchFamily="18" charset="0"/>
            </a:endParaRPr>
          </a:p>
        </p:txBody>
      </p:sp>
      <p:sp>
        <p:nvSpPr>
          <p:cNvPr id="7" name="Text 4"/>
          <p:cNvSpPr/>
          <p:nvPr/>
        </p:nvSpPr>
        <p:spPr>
          <a:xfrm>
            <a:off x="812800" y="3952230"/>
            <a:ext cx="6278880" cy="98549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4CCDB"/>
                </a:solidFill>
                <a:latin typeface="Times New Roman" panose="02020603050405020304" pitchFamily="18" charset="0"/>
                <a:ea typeface="IBM Plex Sans" pitchFamily="34" charset="-122"/>
                <a:cs typeface="Times New Roman" panose="02020603050405020304" pitchFamily="18" charset="0"/>
              </a:rPr>
              <a:t>Ambulance signal preemption as a </a:t>
            </a:r>
            <a:r>
              <a:rPr lang="en-US" sz="1800" dirty="0">
                <a:solidFill>
                  <a:srgbClr val="FF9150"/>
                </a:solidFill>
                <a:latin typeface="Times New Roman" panose="02020603050405020304" pitchFamily="18" charset="0"/>
                <a:ea typeface="IBM Plex Sans" pitchFamily="34" charset="-122"/>
                <a:cs typeface="Times New Roman" panose="02020603050405020304" pitchFamily="18" charset="0"/>
              </a:rPr>
              <a:t>96-qubit QUBO</a:t>
            </a:r>
            <a:r>
              <a:rPr lang="en-US" sz="1800" dirty="0">
                <a:solidFill>
                  <a:srgbClr val="C4CCDB"/>
                </a:solidFill>
                <a:latin typeface="Times New Roman" panose="02020603050405020304" pitchFamily="18" charset="0"/>
                <a:ea typeface="IBM Plex Sans" pitchFamily="34" charset="-122"/>
                <a:cs typeface="Times New Roman" panose="02020603050405020304" pitchFamily="18" charset="0"/>
              </a:rPr>
              <a:t>, solved by QAOA in 12-qubit windows and checked in a traffic simulator.</a:t>
            </a:r>
            <a:endParaRPr lang="en-US" sz="1800" dirty="0">
              <a:latin typeface="Times New Roman" panose="02020603050405020304" pitchFamily="18" charset="0"/>
              <a:cs typeface="Times New Roman" panose="02020603050405020304" pitchFamily="18" charset="0"/>
            </a:endParaRPr>
          </a:p>
        </p:txBody>
      </p:sp>
      <p:sp>
        <p:nvSpPr>
          <p:cNvPr id="8" name="Text 5"/>
          <p:cNvSpPr/>
          <p:nvPr/>
        </p:nvSpPr>
        <p:spPr>
          <a:xfrm>
            <a:off x="812800" y="514092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8AE"/>
                </a:solidFill>
                <a:latin typeface="Times New Roman" panose="02020603050405020304" pitchFamily="18" charset="0"/>
                <a:ea typeface="IBM Plex Sans" pitchFamily="34" charset="-122"/>
                <a:cs typeface="Times New Roman" panose="02020603050405020304" pitchFamily="18" charset="0"/>
              </a:rPr>
              <a:t>TEAM VOYAGER · </a:t>
            </a:r>
            <a:r>
              <a:rPr lang="en-US" sz="1200" dirty="0" err="1">
                <a:solidFill>
                  <a:srgbClr val="8E98AE"/>
                </a:solidFill>
                <a:latin typeface="Times New Roman" panose="02020603050405020304" pitchFamily="18" charset="0"/>
                <a:ea typeface="IBM Plex Sans" pitchFamily="34" charset="-122"/>
                <a:cs typeface="Times New Roman" panose="02020603050405020304" pitchFamily="18" charset="0"/>
              </a:rPr>
              <a:t>Haadireza</a:t>
            </a:r>
            <a:r>
              <a:rPr lang="en-US" sz="1200" dirty="0">
                <a:solidFill>
                  <a:srgbClr val="8E98AE"/>
                </a:solidFill>
                <a:latin typeface="Times New Roman" panose="02020603050405020304" pitchFamily="18" charset="0"/>
                <a:ea typeface="IBM Plex Sans" pitchFamily="34" charset="-122"/>
                <a:cs typeface="Times New Roman" panose="02020603050405020304" pitchFamily="18" charset="0"/>
              </a:rPr>
              <a:t> Premji and Trisha Prasad</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9150"/>
                </a:solidFill>
                <a:latin typeface="Times New Roman" panose="02020603050405020304" pitchFamily="18" charset="0"/>
                <a:ea typeface="JetBrains Mono" pitchFamily="49" charset="-122"/>
                <a:cs typeface="Times New Roman" panose="02020603050405020304" pitchFamily="18" charset="0"/>
              </a:rPr>
              <a:t>THE PROBLEM</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03920"/>
            <a:ext cx="9810750" cy="1232396"/>
          </a:xfrm>
          <a:prstGeom prst="rect">
            <a:avLst/>
          </a:prstGeom>
          <a:noFill/>
          <a:ln/>
        </p:spPr>
        <p:txBody>
          <a:bodyPr wrap="square" lIns="0" tIns="0" rIns="0" bIns="0" rtlCol="0" anchor="t">
            <a:normAutofit/>
          </a:bodyPr>
          <a:lstStyle/>
          <a:p>
            <a:pPr marL="0" indent="0" algn="l">
              <a:lnSpc>
                <a:spcPts val="4752"/>
              </a:lnSpc>
              <a:buNone/>
            </a:pPr>
            <a:r>
              <a:rPr lang="en-US" sz="4400" b="1" i="0" kern="0" spc="-75" dirty="0">
                <a:solidFill>
                  <a:srgbClr val="E9EDF5"/>
                </a:solidFill>
                <a:latin typeface="Times New Roman" panose="02020603050405020304" pitchFamily="18" charset="0"/>
                <a:cs typeface="Times New Roman" panose="02020603050405020304" pitchFamily="18" charset="0"/>
              </a:rPr>
              <a:t>An ambulance at a red light waits like everyone else.</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588716"/>
            <a:ext cx="8502650" cy="61466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BFC7D6"/>
                </a:solidFill>
                <a:latin typeface="Times New Roman" panose="02020603050405020304" pitchFamily="18" charset="0"/>
                <a:ea typeface="IBM Plex Sans" pitchFamily="34" charset="-122"/>
                <a:cs typeface="Times New Roman" panose="02020603050405020304" pitchFamily="18" charset="0"/>
              </a:rPr>
              <a:t>Preemption today is local: one light reacts as the ambulance arrives, often behind a queue it never cleared. A city-wide plan has to decide three things at once.</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815975" y="3874195"/>
            <a:ext cx="3380284" cy="1964630"/>
          </a:xfrm>
          <a:prstGeom prst="roundRect">
            <a:avLst>
              <a:gd name="adj" fmla="val 6303"/>
            </a:avLst>
          </a:prstGeom>
          <a:solidFill>
            <a:srgbClr val="151B33"/>
          </a:solidFill>
          <a:ln w="6350">
            <a:solidFill>
              <a:srgbClr val="26304A"/>
            </a:solidFill>
            <a:prstDash val="solid"/>
          </a:ln>
        </p:spPr>
        <p:txBody>
          <a:bodyPr/>
          <a:lstStyle/>
          <a:p>
            <a:endParaRPr lang="en-IN"/>
          </a:p>
        </p:txBody>
      </p:sp>
      <p:sp>
        <p:nvSpPr>
          <p:cNvPr id="6" name="Text 4"/>
          <p:cNvSpPr/>
          <p:nvPr/>
        </p:nvSpPr>
        <p:spPr>
          <a:xfrm>
            <a:off x="1073150" y="4131370"/>
            <a:ext cx="295191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9150"/>
                </a:solidFill>
                <a:latin typeface="Times New Roman" panose="02020603050405020304" pitchFamily="18" charset="0"/>
                <a:ea typeface="JetBrains Mono" pitchFamily="49" charset="-122"/>
                <a:cs typeface="Times New Roman" panose="02020603050405020304" pitchFamily="18" charset="0"/>
              </a:rPr>
              <a:t>01</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1073150" y="4481860"/>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Who goes where</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073150" y="4888260"/>
            <a:ext cx="2951912"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Assign each ambulance to one incident, weighted by severity and congestion.</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4405809" y="3874195"/>
            <a:ext cx="3380333" cy="1964630"/>
          </a:xfrm>
          <a:prstGeom prst="roundRect">
            <a:avLst>
              <a:gd name="adj" fmla="val 6303"/>
            </a:avLst>
          </a:prstGeom>
          <a:solidFill>
            <a:srgbClr val="151B33"/>
          </a:solidFill>
          <a:ln w="6350">
            <a:solidFill>
              <a:srgbClr val="26304A"/>
            </a:solidFill>
            <a:prstDash val="solid"/>
          </a:ln>
        </p:spPr>
        <p:txBody>
          <a:bodyPr/>
          <a:lstStyle/>
          <a:p>
            <a:endParaRPr lang="en-IN"/>
          </a:p>
        </p:txBody>
      </p:sp>
      <p:sp>
        <p:nvSpPr>
          <p:cNvPr id="10" name="Text 8"/>
          <p:cNvSpPr/>
          <p:nvPr/>
        </p:nvSpPr>
        <p:spPr>
          <a:xfrm>
            <a:off x="4662984" y="4131370"/>
            <a:ext cx="295196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9150"/>
                </a:solidFill>
                <a:latin typeface="Times New Roman" panose="02020603050405020304" pitchFamily="18" charset="0"/>
                <a:ea typeface="JetBrains Mono" pitchFamily="49" charset="-122"/>
                <a:cs typeface="Times New Roman" panose="02020603050405020304" pitchFamily="18" charset="0"/>
              </a:rPr>
              <a:t>02</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4662984" y="448186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Which lights, when</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4662984" y="4888260"/>
            <a:ext cx="2951963"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Set every signal on the route green for the slot the ambulance actually arrives.</a:t>
            </a:r>
            <a:endParaRPr lang="en-US" sz="1300" dirty="0">
              <a:latin typeface="Times New Roman" panose="02020603050405020304" pitchFamily="18" charset="0"/>
              <a:cs typeface="Times New Roman" panose="02020603050405020304" pitchFamily="18" charset="0"/>
            </a:endParaRPr>
          </a:p>
        </p:txBody>
      </p:sp>
      <p:sp>
        <p:nvSpPr>
          <p:cNvPr id="13" name="Shape 11"/>
          <p:cNvSpPr/>
          <p:nvPr/>
        </p:nvSpPr>
        <p:spPr>
          <a:xfrm>
            <a:off x="7995692" y="3874195"/>
            <a:ext cx="3380333" cy="1964630"/>
          </a:xfrm>
          <a:prstGeom prst="roundRect">
            <a:avLst>
              <a:gd name="adj" fmla="val 6303"/>
            </a:avLst>
          </a:prstGeom>
          <a:solidFill>
            <a:srgbClr val="151B33"/>
          </a:solidFill>
          <a:ln w="6350">
            <a:solidFill>
              <a:srgbClr val="26304A"/>
            </a:solidFill>
            <a:prstDash val="solid"/>
          </a:ln>
        </p:spPr>
        <p:txBody>
          <a:bodyPr/>
          <a:lstStyle/>
          <a:p>
            <a:endParaRPr lang="en-IN"/>
          </a:p>
        </p:txBody>
      </p:sp>
      <p:sp>
        <p:nvSpPr>
          <p:cNvPr id="14" name="Text 12"/>
          <p:cNvSpPr/>
          <p:nvPr/>
        </p:nvSpPr>
        <p:spPr>
          <a:xfrm>
            <a:off x="8252867" y="4131370"/>
            <a:ext cx="295196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9150"/>
                </a:solidFill>
                <a:latin typeface="Times New Roman" panose="02020603050405020304" pitchFamily="18" charset="0"/>
                <a:ea typeface="JetBrains Mono" pitchFamily="49" charset="-122"/>
                <a:cs typeface="Times New Roman" panose="02020603050405020304" pitchFamily="18" charset="0"/>
              </a:rPr>
              <a:t>03</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8252867" y="448186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At what cost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8252867" y="4888260"/>
            <a:ext cx="2951963"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Without starving the cross street or breaking the green wave for everyone else.</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02</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THE IDEA</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1379200"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Two coupled problems, two quantum encodings</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040186"/>
            <a:ext cx="4527550" cy="2402632"/>
          </a:xfrm>
          <a:prstGeom prst="roundRect">
            <a:avLst>
              <a:gd name="adj" fmla="val 5154"/>
            </a:avLst>
          </a:prstGeom>
          <a:solidFill>
            <a:srgbClr val="121933"/>
          </a:solidFill>
          <a:ln w="6350">
            <a:solidFill>
              <a:srgbClr val="2A3658"/>
            </a:solidFill>
            <a:prstDash val="solid"/>
          </a:ln>
        </p:spPr>
        <p:txBody>
          <a:bodyPr/>
          <a:lstStyle/>
          <a:p>
            <a:endParaRPr lang="en-IN"/>
          </a:p>
        </p:txBody>
      </p:sp>
      <p:sp>
        <p:nvSpPr>
          <p:cNvPr id="5" name="Text 3"/>
          <p:cNvSpPr/>
          <p:nvPr/>
        </p:nvSpPr>
        <p:spPr>
          <a:xfrm>
            <a:off x="1098550" y="2322761"/>
            <a:ext cx="40812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CCBFF"/>
                </a:solidFill>
                <a:latin typeface="Times New Roman" panose="02020603050405020304" pitchFamily="18" charset="0"/>
                <a:ea typeface="JetBrains Mono" pitchFamily="49" charset="-122"/>
                <a:cs typeface="Times New Roman" panose="02020603050405020304" pitchFamily="18" charset="0"/>
              </a:rPr>
              <a:t>Dispatch · 16 qubits</a:t>
            </a:r>
            <a:endParaRPr lang="en-US" sz="1300" dirty="0">
              <a:latin typeface="Times New Roman" panose="02020603050405020304" pitchFamily="18" charset="0"/>
              <a:cs typeface="Times New Roman" panose="02020603050405020304" pitchFamily="18" charset="0"/>
            </a:endParaRPr>
          </a:p>
        </p:txBody>
      </p:sp>
      <p:sp>
        <p:nvSpPr>
          <p:cNvPr id="6" name="Text 4"/>
          <p:cNvSpPr/>
          <p:nvPr/>
        </p:nvSpPr>
        <p:spPr>
          <a:xfrm>
            <a:off x="1098550" y="2680891"/>
            <a:ext cx="408127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E9EDF5"/>
                </a:solidFill>
                <a:latin typeface="Times New Roman" panose="02020603050405020304" pitchFamily="18" charset="0"/>
                <a:ea typeface="Space Grotesk" pitchFamily="34" charset="-122"/>
                <a:cs typeface="Times New Roman" panose="02020603050405020304" pitchFamily="18" charset="0"/>
              </a:rPr>
              <a:t>Constrained assignment</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1098550" y="3129161"/>
            <a:ext cx="4081272"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4 ambulances × 4 incidents, one-hot rows. XY-mixer QAOA from a Dicke state keeps every ambulance on exactly one incident by construction.</a:t>
            </a:r>
            <a:endParaRPr lang="en-US" sz="1400" dirty="0">
              <a:latin typeface="Times New Roman" panose="02020603050405020304" pitchFamily="18" charset="0"/>
              <a:cs typeface="Times New Roman" panose="02020603050405020304" pitchFamily="18" charset="0"/>
            </a:endParaRPr>
          </a:p>
        </p:txBody>
      </p:sp>
      <p:pic>
        <p:nvPicPr>
          <p:cNvPr id="8" name="Image 0" descr="arrow-right"/>
          <p:cNvPicPr>
            <a:picLocks noChangeAspect="1"/>
          </p:cNvPicPr>
          <p:nvPr/>
        </p:nvPicPr>
        <p:blipFill>
          <a:blip r:embed="rId3"/>
          <a:srcRect/>
          <a:stretch/>
        </p:blipFill>
        <p:spPr>
          <a:xfrm>
            <a:off x="5715000" y="2799556"/>
            <a:ext cx="762000" cy="381000"/>
          </a:xfrm>
          <a:prstGeom prst="rect">
            <a:avLst/>
          </a:prstGeom>
        </p:spPr>
      </p:pic>
      <p:sp>
        <p:nvSpPr>
          <p:cNvPr id="9" name="Text 6"/>
          <p:cNvSpPr/>
          <p:nvPr/>
        </p:nvSpPr>
        <p:spPr>
          <a:xfrm>
            <a:off x="5499100" y="3256756"/>
            <a:ext cx="1193800"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9B3C7"/>
                </a:solidFill>
                <a:latin typeface="Times New Roman" panose="02020603050405020304" pitchFamily="18" charset="0"/>
                <a:ea typeface="IBM Plex Sans" pitchFamily="34" charset="-122"/>
                <a:cs typeface="Times New Roman" panose="02020603050405020304" pitchFamily="18" charset="0"/>
              </a:rPr>
              <a:t>routes become green requests</a:t>
            </a:r>
            <a:endParaRPr lang="en-US" sz="1200" dirty="0">
              <a:latin typeface="Times New Roman" panose="02020603050405020304" pitchFamily="18" charset="0"/>
              <a:cs typeface="Times New Roman" panose="02020603050405020304" pitchFamily="18" charset="0"/>
            </a:endParaRPr>
          </a:p>
        </p:txBody>
      </p:sp>
      <p:sp>
        <p:nvSpPr>
          <p:cNvPr id="10" name="Shape 7"/>
          <p:cNvSpPr/>
          <p:nvPr/>
        </p:nvSpPr>
        <p:spPr>
          <a:xfrm>
            <a:off x="6848475" y="2040186"/>
            <a:ext cx="4527550" cy="2402632"/>
          </a:xfrm>
          <a:prstGeom prst="roundRect">
            <a:avLst>
              <a:gd name="adj" fmla="val 5154"/>
            </a:avLst>
          </a:prstGeom>
          <a:solidFill>
            <a:srgbClr val="121933"/>
          </a:solidFill>
          <a:ln w="6350">
            <a:solidFill>
              <a:srgbClr val="2A3658"/>
            </a:solidFill>
            <a:prstDash val="solid"/>
          </a:ln>
        </p:spPr>
        <p:txBody>
          <a:bodyPr/>
          <a:lstStyle/>
          <a:p>
            <a:endParaRPr lang="en-IN"/>
          </a:p>
        </p:txBody>
      </p:sp>
      <p:sp>
        <p:nvSpPr>
          <p:cNvPr id="11" name="Text 8"/>
          <p:cNvSpPr/>
          <p:nvPr/>
        </p:nvSpPr>
        <p:spPr>
          <a:xfrm>
            <a:off x="7131050" y="2322761"/>
            <a:ext cx="40812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CCBFF"/>
                </a:solidFill>
                <a:latin typeface="Times New Roman" panose="02020603050405020304" pitchFamily="18" charset="0"/>
                <a:ea typeface="JetBrains Mono" pitchFamily="49" charset="-122"/>
                <a:cs typeface="Times New Roman" panose="02020603050405020304" pitchFamily="18" charset="0"/>
              </a:rPr>
              <a:t>Signals · 96 qubits</a:t>
            </a:r>
            <a:endParaRPr lang="en-US" sz="1300" dirty="0">
              <a:latin typeface="Times New Roman" panose="02020603050405020304" pitchFamily="18" charset="0"/>
              <a:cs typeface="Times New Roman" panose="02020603050405020304" pitchFamily="18" charset="0"/>
            </a:endParaRPr>
          </a:p>
        </p:txBody>
      </p:sp>
      <p:sp>
        <p:nvSpPr>
          <p:cNvPr id="12" name="Text 9"/>
          <p:cNvSpPr/>
          <p:nvPr/>
        </p:nvSpPr>
        <p:spPr>
          <a:xfrm>
            <a:off x="7131050" y="2680891"/>
            <a:ext cx="408127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E9EDF5"/>
                </a:solidFill>
                <a:latin typeface="Times New Roman" panose="02020603050405020304" pitchFamily="18" charset="0"/>
                <a:ea typeface="Space Grotesk" pitchFamily="34" charset="-122"/>
                <a:cs typeface="Times New Roman" panose="02020603050405020304" pitchFamily="18" charset="0"/>
              </a:rPr>
              <a:t>Unconstrained QUBO</a:t>
            </a:r>
            <a:endParaRPr lang="en-US" sz="2200" dirty="0">
              <a:latin typeface="Times New Roman" panose="02020603050405020304" pitchFamily="18" charset="0"/>
              <a:cs typeface="Times New Roman" panose="02020603050405020304" pitchFamily="18" charset="0"/>
            </a:endParaRPr>
          </a:p>
        </p:txBody>
      </p:sp>
      <p:sp>
        <p:nvSpPr>
          <p:cNvPr id="13" name="Text 10"/>
          <p:cNvSpPr/>
          <p:nvPr/>
        </p:nvSpPr>
        <p:spPr>
          <a:xfrm>
            <a:off x="7131050" y="3129161"/>
            <a:ext cx="4081272"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16 lights × 6 slots. Solved by QAOA, CVaR-QAOA and warm-start QAOA on 12-qubit windows inside a hybrid loop.</a:t>
            </a:r>
            <a:endParaRPr lang="en-US" sz="1400" dirty="0">
              <a:latin typeface="Times New Roman" panose="02020603050405020304" pitchFamily="18" charset="0"/>
              <a:cs typeface="Times New Roman" panose="02020603050405020304" pitchFamily="18" charset="0"/>
            </a:endParaRPr>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03</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1408162"/>
            <a:ext cx="669747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ENCODING</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850082"/>
            <a:ext cx="669747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One qubit per light per 15-second slot</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815975" y="3087638"/>
            <a:ext cx="6496050" cy="1098550"/>
          </a:xfrm>
          <a:prstGeom prst="roundRect">
            <a:avLst>
              <a:gd name="adj" fmla="val 8960"/>
            </a:avLst>
          </a:prstGeom>
          <a:solidFill>
            <a:srgbClr val="151B33"/>
          </a:solidFill>
          <a:ln w="6350">
            <a:solidFill>
              <a:srgbClr val="2A3658"/>
            </a:solidFill>
            <a:prstDash val="solid"/>
          </a:ln>
        </p:spPr>
        <p:txBody>
          <a:bodyPr wrap="square" lIns="228347" tIns="177547" rIns="48896" bIns="152147" rtlCol="0" anchor="t">
            <a:normAutofit/>
          </a:bodyPr>
          <a:lstStyle/>
          <a:p>
            <a:pPr marL="0" indent="0" algn="l">
              <a:lnSpc>
                <a:spcPts val="2700"/>
              </a:lnSpc>
              <a:buNone/>
            </a:pPr>
            <a:r>
              <a:rPr lang="en-US" sz="1800" dirty="0">
                <a:solidFill>
                  <a:srgbClr val="E9EDF5"/>
                </a:solidFill>
                <a:latin typeface="Times New Roman" panose="02020603050405020304" pitchFamily="18" charset="0"/>
                <a:ea typeface="JetBrains Mono" pitchFamily="49" charset="-122"/>
                <a:cs typeface="Times New Roman" panose="02020603050405020304" pitchFamily="18" charset="0"/>
              </a:rPr>
              <a:t>x</a:t>
            </a:r>
            <a:r>
              <a:rPr lang="en-US" sz="1800" dirty="0">
                <a:solidFill>
                  <a:srgbClr val="6CCBFF"/>
                </a:solidFill>
                <a:latin typeface="Times New Roman" panose="02020603050405020304" pitchFamily="18" charset="0"/>
                <a:ea typeface="JetBrains Mono" pitchFamily="49" charset="-122"/>
                <a:cs typeface="Times New Roman" panose="02020603050405020304" pitchFamily="18" charset="0"/>
              </a:rPr>
              <a:t>ₙ,ₜ</a:t>
            </a:r>
            <a:r>
              <a:rPr lang="en-US" sz="1800" dirty="0">
                <a:solidFill>
                  <a:srgbClr val="E9EDF5"/>
                </a:solidFill>
                <a:latin typeface="Times New Roman" panose="02020603050405020304" pitchFamily="18" charset="0"/>
                <a:ea typeface="JetBrains Mono" pitchFamily="49" charset="-122"/>
                <a:cs typeface="Times New Roman" panose="02020603050405020304" pitchFamily="18" charset="0"/>
              </a:rPr>
              <a:t> = 1 → east–west green</a:t>
            </a:r>
            <a:endParaRPr lang="en-US" sz="1800" dirty="0">
              <a:latin typeface="Times New Roman" panose="02020603050405020304" pitchFamily="18" charset="0"/>
              <a:cs typeface="Times New Roman" panose="02020603050405020304" pitchFamily="18" charset="0"/>
            </a:endParaRPr>
          </a:p>
          <a:p>
            <a:pPr marL="0" indent="0" algn="l">
              <a:lnSpc>
                <a:spcPts val="2700"/>
              </a:lnSpc>
              <a:buNone/>
            </a:pPr>
            <a:r>
              <a:rPr lang="en-US" sz="1800" dirty="0">
                <a:solidFill>
                  <a:srgbClr val="E9EDF5"/>
                </a:solidFill>
                <a:latin typeface="Times New Roman" panose="02020603050405020304" pitchFamily="18" charset="0"/>
                <a:ea typeface="JetBrains Mono" pitchFamily="49" charset="-122"/>
                <a:cs typeface="Times New Roman" panose="02020603050405020304" pitchFamily="18" charset="0"/>
              </a:rPr>
              <a:t>x</a:t>
            </a:r>
            <a:r>
              <a:rPr lang="en-US" sz="1800" dirty="0">
                <a:solidFill>
                  <a:srgbClr val="6CCBFF"/>
                </a:solidFill>
                <a:latin typeface="Times New Roman" panose="02020603050405020304" pitchFamily="18" charset="0"/>
                <a:ea typeface="JetBrains Mono" pitchFamily="49" charset="-122"/>
                <a:cs typeface="Times New Roman" panose="02020603050405020304" pitchFamily="18" charset="0"/>
              </a:rPr>
              <a:t>ₙ,ₜ</a:t>
            </a:r>
            <a:r>
              <a:rPr lang="en-US" sz="1800" dirty="0">
                <a:solidFill>
                  <a:srgbClr val="E9EDF5"/>
                </a:solidFill>
                <a:latin typeface="Times New Roman" panose="02020603050405020304" pitchFamily="18" charset="0"/>
                <a:ea typeface="JetBrains Mono" pitchFamily="49" charset="-122"/>
                <a:cs typeface="Times New Roman" panose="02020603050405020304" pitchFamily="18" charset="0"/>
              </a:rPr>
              <a:t> = 0 → north–south green</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812800" y="4417963"/>
            <a:ext cx="6697472"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FC7D6"/>
                </a:solidFill>
                <a:latin typeface="Times New Roman" panose="02020603050405020304" pitchFamily="18" charset="0"/>
                <a:ea typeface="IBM Plex Sans" pitchFamily="34" charset="-122"/>
                <a:cs typeface="Times New Roman" panose="02020603050405020304" pitchFamily="18" charset="0"/>
              </a:rPr>
              <a:t>16 intersections × 6 slots = </a:t>
            </a:r>
            <a:r>
              <a:rPr lang="en-US" sz="1500" b="1" dirty="0">
                <a:solidFill>
                  <a:srgbClr val="E9EDF5"/>
                </a:solidFill>
                <a:latin typeface="Times New Roman" panose="02020603050405020304" pitchFamily="18" charset="0"/>
                <a:ea typeface="IBM Plex Sans" pitchFamily="34" charset="-122"/>
                <a:cs typeface="Times New Roman" panose="02020603050405020304" pitchFamily="18" charset="0"/>
              </a:rPr>
              <a:t>96 binary variables</a:t>
            </a:r>
            <a:r>
              <a:rPr lang="en-US" sz="1500" dirty="0">
                <a:solidFill>
                  <a:srgbClr val="BFC7D6"/>
                </a:solidFill>
                <a:latin typeface="Times New Roman" panose="02020603050405020304" pitchFamily="18" charset="0"/>
                <a:ea typeface="IBM Plex Sans" pitchFamily="34" charset="-122"/>
                <a:cs typeface="Times New Roman" panose="02020603050405020304" pitchFamily="18" charset="0"/>
              </a:rPr>
              <a:t>, a 90-second horizon. Ambulances cross a 150 m block in about 9 s (measured in the simulator), so each crossing maps to one slot.</a:t>
            </a:r>
            <a:endParaRPr lang="en-US" sz="1500" dirty="0">
              <a:latin typeface="Times New Roman" panose="02020603050405020304" pitchFamily="18" charset="0"/>
              <a:cs typeface="Times New Roman" panose="02020603050405020304" pitchFamily="18" charset="0"/>
            </a:endParaRPr>
          </a:p>
        </p:txBody>
      </p:sp>
      <p:pic>
        <p:nvPicPr>
          <p:cNvPr id="6" name="Image 0" descr="The proved-optimal plan: 16 rows of intersections by 6 slots; blue cells are east-west green, dark cells north-south; orange dots mark ambulance requests the plan meets"/>
          <p:cNvPicPr>
            <a:picLocks noChangeAspect="1"/>
          </p:cNvPicPr>
          <p:nvPr/>
        </p:nvPicPr>
        <p:blipFill>
          <a:blip r:embed="rId3"/>
          <a:srcRect/>
          <a:stretch/>
        </p:blipFill>
        <p:spPr>
          <a:xfrm>
            <a:off x="7962900" y="924620"/>
            <a:ext cx="3276600" cy="4064000"/>
          </a:xfrm>
          <a:prstGeom prst="rect">
            <a:avLst/>
          </a:prstGeom>
        </p:spPr>
      </p:pic>
      <p:sp>
        <p:nvSpPr>
          <p:cNvPr id="7" name="Text 4"/>
          <p:cNvSpPr/>
          <p:nvPr/>
        </p:nvSpPr>
        <p:spPr>
          <a:xfrm>
            <a:off x="7900670" y="5090220"/>
            <a:ext cx="340106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9B3C7"/>
                </a:solidFill>
                <a:latin typeface="Times New Roman" panose="02020603050405020304" pitchFamily="18" charset="0"/>
                <a:ea typeface="IBM Plex Sans" pitchFamily="34" charset="-122"/>
                <a:cs typeface="Times New Roman" panose="02020603050405020304" pitchFamily="18" charset="0"/>
              </a:rPr>
              <a:t>The proved-optimal plan for City 1: rows are intersections, columns are slots; orange dots are ambulance requests.</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04</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THE COST HAMILTONIAN</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Five terms, all at most quadratic: an unconstrained QUBO</a:t>
            </a:r>
            <a:endParaRPr lang="en-US" sz="36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76401"/>
          <a:ext cx="10553700" cy="2316066"/>
        </p:xfrm>
        <a:graphic>
          <a:graphicData uri="http://schemas.openxmlformats.org/drawingml/2006/table">
            <a:tbl>
              <a:tblPr/>
              <a:tblGrid>
                <a:gridCol w="2321814">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Term</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Form</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What it encodes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Queue delay</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C4CCDB"/>
                          </a:solidFill>
                          <a:latin typeface="IBM Plex Sans" pitchFamily="34" charset="0"/>
                          <a:ea typeface="IBM Plex Sans" pitchFamily="34" charset="-122"/>
                          <a:cs typeface="IBM Plex Sans" pitchFamily="34" charset="-120"/>
                        </a:rPr>
                        <a:t>q_ns · x + q_ew · (1 − x)</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cars stuck on red</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Platoon stops</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C4CCDB"/>
                          </a:solidFill>
                          <a:latin typeface="IBM Plex Sans" pitchFamily="34" charset="0"/>
                          <a:ea typeface="IBM Plex Sans" pitchFamily="34" charset="-122"/>
                          <a:cs typeface="IBM Plex Sans" pitchFamily="34" charset="-120"/>
                        </a:rPr>
                        <a:t>f · xₙ,ₜ · (1 − xₘ,ₜ₊₁)</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a released platoon hits red next block</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Switching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C4CCDB"/>
                          </a:solidFill>
                          <a:latin typeface="IBM Plex Sans" pitchFamily="34" charset="0"/>
                          <a:ea typeface="IBM Plex Sans" pitchFamily="34" charset="-122"/>
                          <a:cs typeface="IBM Plex Sans" pitchFamily="34" charset="-120"/>
                        </a:rPr>
                        <a:t>s · (xₜ + xₜ₊₁ − 2xₜxₜ₊₁)</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lost time when a light changes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Ambulance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C4CCDB"/>
                          </a:solidFill>
                          <a:latin typeface="IBM Plex Sans" pitchFamily="34" charset="0"/>
                          <a:ea typeface="IBM Plex Sans" pitchFamily="34" charset="-122"/>
                          <a:cs typeface="IBM Plex Sans" pitchFamily="34" charset="-120"/>
                        </a:rPr>
                        <a:t>W · sev · p(Δt) · [phase ≠ axis]</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green requests, spread over ±1 slot</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Fairness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C4CCDB"/>
                          </a:solidFill>
                          <a:latin typeface="IBM Plex Sans" pitchFamily="34" charset="0"/>
                          <a:ea typeface="IBM Plex Sans" pitchFamily="34" charset="-122"/>
                          <a:cs typeface="IBM Plex Sans" pitchFamily="34" charset="-120"/>
                        </a:rPr>
                        <a:t>μ · (Σₜ xₙ,ₜ − T/2)²</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no axis starved over the horizon</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5071864"/>
            <a:ext cx="10566400" cy="571500"/>
          </a:xfrm>
          <a:prstGeom prst="rect">
            <a:avLst/>
          </a:prstGeom>
          <a:solidFill>
            <a:srgbClr val="121933"/>
          </a:solidFill>
          <a:ln/>
        </p:spPr>
        <p:txBody>
          <a:bodyPr wrap="square" lIns="254000" tIns="152400" rIns="0" bIns="127000" rtlCol="0" anchor="t">
            <a:normAutofit/>
          </a:bodyPr>
          <a:lstStyle/>
          <a:p>
            <a:pPr marL="0" indent="0" algn="l">
              <a:lnSpc>
                <a:spcPts val="2100"/>
              </a:lnSpc>
              <a:buNone/>
            </a:pPr>
            <a:r>
              <a:rPr lang="en-US" sz="1500" dirty="0">
                <a:solidFill>
                  <a:srgbClr val="E9EDF5"/>
                </a:solidFill>
                <a:latin typeface="Times New Roman" panose="02020603050405020304" pitchFamily="18" charset="0"/>
                <a:ea typeface="JetBrains Mono" pitchFamily="49" charset="-122"/>
                <a:cs typeface="Times New Roman" panose="02020603050405020304" pitchFamily="18" charset="0"/>
              </a:rPr>
              <a:t>x = (1 − Z)/2 → H = Σ hᵢ Zᵢ + Σ Jᵢⱼ ZᵢZⱼ → RZ and RZZ gates</a:t>
            </a:r>
            <a:endParaRPr lang="en-US" sz="1500" dirty="0">
              <a:latin typeface="Times New Roman" panose="02020603050405020304" pitchFamily="18" charset="0"/>
              <a:cs typeface="Times New Roman" panose="02020603050405020304" pitchFamily="18" charset="0"/>
            </a:endParaRPr>
          </a:p>
        </p:txBody>
      </p:sp>
      <p:sp>
        <p:nvSpPr>
          <p:cNvPr id="6" name="Shape 3"/>
          <p:cNvSpPr/>
          <p:nvPr/>
        </p:nvSpPr>
        <p:spPr>
          <a:xfrm>
            <a:off x="825500" y="5071864"/>
            <a:ext cx="0" cy="571500"/>
          </a:xfrm>
          <a:prstGeom prst="line">
            <a:avLst/>
          </a:prstGeom>
          <a:noFill/>
          <a:ln w="25400">
            <a:solidFill>
              <a:srgbClr val="FF9150"/>
            </a:solidFill>
            <a:prstDash val="solid"/>
          </a:ln>
        </p:spPr>
        <p:txBody>
          <a:bodyPr/>
          <a:lstStyle/>
          <a:p>
            <a:endParaRPr lang="en-IN"/>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05</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FROM THE MODEL</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Built term by term, then proved</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963986"/>
            <a:ext cx="5778946" cy="3874839"/>
          </a:xfrm>
          <a:prstGeom prst="roundRect">
            <a:avLst>
              <a:gd name="adj" fmla="val 2540"/>
            </a:avLst>
          </a:prstGeom>
          <a:solidFill>
            <a:srgbClr val="080B15"/>
          </a:solidFill>
          <a:ln w="6350">
            <a:solidFill>
              <a:srgbClr val="26304A"/>
            </a:solidFill>
            <a:prstDash val="solid"/>
          </a:ln>
        </p:spPr>
        <p:txBody>
          <a:bodyPr/>
          <a:lstStyle/>
          <a:p>
            <a:endParaRPr lang="en-IN"/>
          </a:p>
        </p:txBody>
      </p:sp>
      <p:sp>
        <p:nvSpPr>
          <p:cNvPr id="5" name="Text 3"/>
          <p:cNvSpPr/>
          <p:nvPr/>
        </p:nvSpPr>
        <p:spPr>
          <a:xfrm>
            <a:off x="1073150" y="2195761"/>
            <a:ext cx="54225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ea typeface="JetBrains Mono" pitchFamily="49" charset="-122"/>
                <a:cs typeface="Times New Roman" panose="02020603050405020304" pitchFamily="18" charset="0"/>
              </a:rPr>
              <a:t>qgw/signals.py · to_qubo()</a:t>
            </a:r>
            <a:endParaRPr lang="en-US" sz="1200" dirty="0">
              <a:cs typeface="Times New Roman" panose="02020603050405020304" pitchFamily="18" charset="0"/>
            </a:endParaRPr>
          </a:p>
        </p:txBody>
      </p:sp>
      <p:sp>
        <p:nvSpPr>
          <p:cNvPr id="6" name="Text 4"/>
          <p:cNvSpPr/>
          <p:nvPr/>
        </p:nvSpPr>
        <p:spPr>
          <a:xfrm>
            <a:off x="1073150" y="2510681"/>
            <a:ext cx="5422534" cy="2997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6B7590"/>
                </a:solidFill>
                <a:ea typeface="JetBrains Mono" pitchFamily="49" charset="-122"/>
                <a:cs typeface="Times New Roman" panose="02020603050405020304" pitchFamily="18" charset="0"/>
              </a:rPr>
              <a:t># switching: s·(xa + xb − 2·xa·xb)</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for n in range(c.N):</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for t in range(T - 1):</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a, b = c.var(n, t), c.var(n, t + 1)</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lin[a] += s; lin[b] += s</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add_pair(a, b, </a:t>
            </a:r>
            <a:r>
              <a:rPr lang="en-US" sz="1200" dirty="0">
                <a:solidFill>
                  <a:srgbClr val="FF9150"/>
                </a:solidFill>
                <a:ea typeface="JetBrains Mono" pitchFamily="49" charset="-122"/>
                <a:cs typeface="Times New Roman" panose="02020603050405020304" pitchFamily="18" charset="0"/>
              </a:rPr>
              <a:t>-2 * s</a:t>
            </a:r>
            <a:r>
              <a:rPr lang="en-US" sz="1200" dirty="0">
                <a:solidFill>
                  <a:srgbClr val="D6DCE8"/>
                </a:solidFill>
                <a:ea typeface="JetBrains Mono" pitchFamily="49" charset="-122"/>
                <a:cs typeface="Times New Roman" panose="02020603050405020304" pitchFamily="18" charset="0"/>
              </a:rPr>
              <a:t>)</a:t>
            </a:r>
            <a:endParaRPr lang="en-US" sz="1200" dirty="0">
              <a:cs typeface="Times New Roman" panose="02020603050405020304" pitchFamily="18" charset="0"/>
            </a:endParaRPr>
          </a:p>
          <a:p>
            <a:pPr marL="0" indent="0" algn="l">
              <a:lnSpc>
                <a:spcPts val="1800"/>
              </a:lnSpc>
              <a:buNone/>
            </a:pPr>
            <a:r>
              <a:rPr lang="en-US" sz="1200" dirty="0">
                <a:solidFill>
                  <a:srgbClr val="6B7590"/>
                </a:solidFill>
                <a:ea typeface="JetBrains Mono" pitchFamily="49" charset="-122"/>
                <a:cs typeface="Times New Roman" panose="02020603050405020304" pitchFamily="18" charset="0"/>
              </a:rPr>
              <a:t># fairness: μ·(Σt xt − T/2)²</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for n in range(c.N):</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const += mu * T * T / 4</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for t in range(T):</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lin[c.var(n, t)] += </a:t>
            </a:r>
            <a:r>
              <a:rPr lang="en-US" sz="1200" dirty="0">
                <a:solidFill>
                  <a:srgbClr val="FF9150"/>
                </a:solidFill>
                <a:ea typeface="JetBrains Mono" pitchFamily="49" charset="-122"/>
                <a:cs typeface="Times New Roman" panose="02020603050405020304" pitchFamily="18" charset="0"/>
              </a:rPr>
              <a:t>mu * (1 - T)</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for u in range(t + 1, T):</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add_pair(.., .., </a:t>
            </a:r>
            <a:r>
              <a:rPr lang="en-US" sz="1200" dirty="0">
                <a:solidFill>
                  <a:srgbClr val="FF9150"/>
                </a:solidFill>
                <a:ea typeface="JetBrains Mono" pitchFamily="49" charset="-122"/>
                <a:cs typeface="Times New Roman" panose="02020603050405020304" pitchFamily="18" charset="0"/>
              </a:rPr>
              <a:t>2 * mu</a:t>
            </a:r>
            <a:r>
              <a:rPr lang="en-US" sz="1200" dirty="0">
                <a:solidFill>
                  <a:srgbClr val="D6DCE8"/>
                </a:solidFill>
                <a:ea typeface="JetBrains Mono" pitchFamily="49" charset="-122"/>
                <a:cs typeface="Times New Roman" panose="02020603050405020304" pitchFamily="18" charset="0"/>
              </a:rPr>
              <a:t>)</a:t>
            </a:r>
            <a:endParaRPr lang="en-US" sz="1200" dirty="0">
              <a:cs typeface="Times New Roman" panose="02020603050405020304" pitchFamily="18" charset="0"/>
            </a:endParaRPr>
          </a:p>
        </p:txBody>
      </p:sp>
      <p:sp>
        <p:nvSpPr>
          <p:cNvPr id="7" name="Shape 5"/>
          <p:cNvSpPr/>
          <p:nvPr/>
        </p:nvSpPr>
        <p:spPr>
          <a:xfrm>
            <a:off x="6804471" y="1963986"/>
            <a:ext cx="4571554" cy="1692870"/>
          </a:xfrm>
          <a:prstGeom prst="roundRect">
            <a:avLst>
              <a:gd name="adj" fmla="val 5814"/>
            </a:avLst>
          </a:prstGeom>
          <a:solidFill>
            <a:srgbClr val="080B15"/>
          </a:solidFill>
          <a:ln w="6350">
            <a:solidFill>
              <a:srgbClr val="26304A"/>
            </a:solidFill>
            <a:prstDash val="solid"/>
          </a:ln>
        </p:spPr>
        <p:txBody>
          <a:bodyPr/>
          <a:lstStyle/>
          <a:p>
            <a:endParaRPr lang="en-IN"/>
          </a:p>
        </p:txBody>
      </p:sp>
      <p:sp>
        <p:nvSpPr>
          <p:cNvPr id="8" name="Text 6"/>
          <p:cNvSpPr/>
          <p:nvPr/>
        </p:nvSpPr>
        <p:spPr>
          <a:xfrm>
            <a:off x="7061646" y="2195761"/>
            <a:ext cx="4178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ea typeface="JetBrains Mono" pitchFamily="49" charset="-122"/>
                <a:cs typeface="Times New Roman" panose="02020603050405020304" pitchFamily="18" charset="0"/>
              </a:rPr>
              <a:t>tests/test_core.py</a:t>
            </a:r>
            <a:endParaRPr lang="en-US" sz="1200" dirty="0">
              <a:cs typeface="Times New Roman" panose="02020603050405020304" pitchFamily="18" charset="0"/>
            </a:endParaRPr>
          </a:p>
        </p:txBody>
      </p:sp>
      <p:sp>
        <p:nvSpPr>
          <p:cNvPr id="9" name="Text 7"/>
          <p:cNvSpPr/>
          <p:nvPr/>
        </p:nvSpPr>
        <p:spPr>
          <a:xfrm>
            <a:off x="7061646" y="2510681"/>
            <a:ext cx="4178920" cy="9398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for _ in range(30):</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x = rng.integers(0, 2, q.n)</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assert q.energy(x)[0] \</a:t>
            </a:r>
            <a:endParaRPr lang="en-US" sz="1200" dirty="0">
              <a:cs typeface="Times New Roman" panose="02020603050405020304" pitchFamily="18" charset="0"/>
            </a:endParaRPr>
          </a:p>
          <a:p>
            <a:pPr marL="0" indent="0" algn="l">
              <a:lnSpc>
                <a:spcPts val="1800"/>
              </a:lnSpc>
              <a:buNone/>
            </a:pPr>
            <a:r>
              <a:rPr lang="en-US" sz="1200" dirty="0">
                <a:solidFill>
                  <a:srgbClr val="D6DCE8"/>
                </a:solidFill>
                <a:ea typeface="JetBrains Mono" pitchFamily="49" charset="-122"/>
                <a:cs typeface="Times New Roman" panose="02020603050405020304" pitchFamily="18" charset="0"/>
              </a:rPr>
              <a:t>    == approx(p.cost(x))</a:t>
            </a:r>
            <a:endParaRPr lang="en-US" sz="1200" dirty="0">
              <a:cs typeface="Times New Roman" panose="02020603050405020304" pitchFamily="18" charset="0"/>
            </a:endParaRPr>
          </a:p>
        </p:txBody>
      </p:sp>
      <p:sp>
        <p:nvSpPr>
          <p:cNvPr id="10" name="Text 8"/>
          <p:cNvSpPr/>
          <p:nvPr/>
        </p:nvSpPr>
        <p:spPr>
          <a:xfrm>
            <a:off x="6801296" y="3812431"/>
            <a:ext cx="4715241"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The algebra is never trusted: 150 random plans on 5 cities must give the same energy from the QUBO and from a plain cost function. The numpy QAOA is checked against Qiskit circuits the same way.</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6801296" y="4995912"/>
            <a:ext cx="471524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CCBFF"/>
                </a:solidFill>
                <a:latin typeface="Times New Roman" panose="02020603050405020304" pitchFamily="18" charset="0"/>
                <a:ea typeface="JetBrains Mono" pitchFamily="49" charset="-122"/>
                <a:cs typeface="Times New Roman" panose="02020603050405020304" pitchFamily="18" charset="0"/>
              </a:rPr>
              <a:t>33 tests · all passing</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06</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DISPATCH · XY-MIXER QAOA</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The constraint becomes a symmetry of the mixer</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463701"/>
            <a:ext cx="5650992" cy="1290985"/>
          </a:xfrm>
          <a:prstGeom prst="rect">
            <a:avLst/>
          </a:prstGeom>
          <a:noFill/>
          <a:ln/>
        </p:spPr>
        <p:txBody>
          <a:bodyPr wrap="square" lIns="0" tIns="0" rIns="0" bIns="0" rtlCol="0" anchor="t">
            <a:normAutofit/>
          </a:bodyPr>
          <a:lstStyle/>
          <a:p>
            <a:pPr marL="0" indent="0" algn="l">
              <a:lnSpc>
                <a:spcPts val="2114"/>
              </a:lnSpc>
              <a:buNone/>
            </a:pPr>
            <a:r>
              <a:rPr lang="en-US" sz="1458" dirty="0">
                <a:solidFill>
                  <a:srgbClr val="BFC7D6"/>
                </a:solidFill>
                <a:latin typeface="Times New Roman" panose="02020603050405020304" pitchFamily="18" charset="0"/>
                <a:ea typeface="IBM Plex Sans" pitchFamily="34" charset="-122"/>
                <a:cs typeface="Times New Roman" panose="02020603050405020304" pitchFamily="18" charset="0"/>
              </a:rPr>
              <a:t>Start in a product of W/Dicke states, one excitation per ambulance row. The XY mixer exp(−iβ(XX+YY)/2) conserves Hamming weight in each row, so </a:t>
            </a:r>
            <a:r>
              <a:rPr lang="en-US" sz="1458" b="1" dirty="0">
                <a:solidFill>
                  <a:srgbClr val="E9EDF5"/>
                </a:solidFill>
                <a:latin typeface="Times New Roman" panose="02020603050405020304" pitchFamily="18" charset="0"/>
                <a:ea typeface="IBM Plex Sans" pitchFamily="34" charset="-122"/>
                <a:cs typeface="Times New Roman" panose="02020603050405020304" pitchFamily="18" charset="0"/>
              </a:rPr>
              <a:t>every ambulance serves exactly one incident at every depth</a:t>
            </a:r>
            <a:r>
              <a:rPr lang="en-US" sz="1458" dirty="0">
                <a:solidFill>
                  <a:srgbClr val="BFC7D6"/>
                </a:solidFill>
                <a:latin typeface="Times New Roman" panose="02020603050405020304" pitchFamily="18" charset="0"/>
                <a:ea typeface="IBM Plex Sans" pitchFamily="34" charset="-122"/>
                <a:cs typeface="Times New Roman" panose="02020603050405020304" pitchFamily="18" charset="0"/>
              </a:rPr>
              <a:t>. Only the column constraint is a penalty.</a:t>
            </a:r>
            <a:endParaRPr lang="en-US" sz="1458" dirty="0">
              <a:latin typeface="Times New Roman" panose="02020603050405020304" pitchFamily="18" charset="0"/>
              <a:cs typeface="Times New Roman" panose="02020603050405020304" pitchFamily="18" charset="0"/>
            </a:endParaRPr>
          </a:p>
        </p:txBody>
      </p:sp>
      <p:sp>
        <p:nvSpPr>
          <p:cNvPr id="5" name="Shape 3"/>
          <p:cNvSpPr/>
          <p:nvPr/>
        </p:nvSpPr>
        <p:spPr>
          <a:xfrm>
            <a:off x="815975" y="3910261"/>
            <a:ext cx="2660650" cy="1359843"/>
          </a:xfrm>
          <a:prstGeom prst="roundRect">
            <a:avLst>
              <a:gd name="adj" fmla="val 7238"/>
            </a:avLst>
          </a:prstGeom>
          <a:solidFill>
            <a:srgbClr val="121933"/>
          </a:solidFill>
          <a:ln w="6350">
            <a:solidFill>
              <a:srgbClr val="2A3658"/>
            </a:solidFill>
            <a:prstDash val="solid"/>
          </a:ln>
        </p:spPr>
        <p:txBody>
          <a:bodyPr/>
          <a:lstStyle/>
          <a:p>
            <a:endParaRPr lang="en-IN"/>
          </a:p>
        </p:txBody>
      </p:sp>
      <p:sp>
        <p:nvSpPr>
          <p:cNvPr id="6" name="Text 4"/>
          <p:cNvSpPr/>
          <p:nvPr/>
        </p:nvSpPr>
        <p:spPr>
          <a:xfrm>
            <a:off x="1022350" y="4116636"/>
            <a:ext cx="2315337"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6CCBFF"/>
                </a:solidFill>
                <a:latin typeface="Times New Roman" panose="02020603050405020304" pitchFamily="18" charset="0"/>
                <a:ea typeface="Space Grotesk" pitchFamily="34" charset="-122"/>
                <a:cs typeface="Times New Roman" panose="02020603050405020304" pitchFamily="18" charset="0"/>
              </a:rPr>
              <a:t>40%</a:t>
            </a:r>
            <a:endParaRPr lang="en-US" sz="4400" dirty="0">
              <a:latin typeface="Times New Roman" panose="02020603050405020304" pitchFamily="18" charset="0"/>
              <a:cs typeface="Times New Roman" panose="02020603050405020304" pitchFamily="18" charset="0"/>
            </a:endParaRPr>
          </a:p>
        </p:txBody>
      </p:sp>
      <p:sp>
        <p:nvSpPr>
          <p:cNvPr id="7" name="Text 5"/>
          <p:cNvSpPr/>
          <p:nvPr/>
        </p:nvSpPr>
        <p:spPr>
          <a:xfrm>
            <a:off x="1022350" y="4726236"/>
            <a:ext cx="231533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7D6"/>
                </a:solidFill>
                <a:latin typeface="Times New Roman" panose="02020603050405020304" pitchFamily="18" charset="0"/>
                <a:ea typeface="IBM Plex Sans" pitchFamily="34" charset="-122"/>
                <a:cs typeface="Times New Roman" panose="02020603050405020304" pitchFamily="18" charset="0"/>
              </a:rPr>
              <a:t>valid assignments, XY mixer</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3635375" y="3910261"/>
            <a:ext cx="2660650" cy="1359843"/>
          </a:xfrm>
          <a:prstGeom prst="roundRect">
            <a:avLst>
              <a:gd name="adj" fmla="val 7238"/>
            </a:avLst>
          </a:prstGeom>
          <a:solidFill>
            <a:srgbClr val="121933"/>
          </a:solidFill>
          <a:ln w="6350">
            <a:solidFill>
              <a:srgbClr val="2A3658"/>
            </a:solidFill>
            <a:prstDash val="solid"/>
          </a:ln>
        </p:spPr>
        <p:txBody>
          <a:bodyPr/>
          <a:lstStyle/>
          <a:p>
            <a:endParaRPr lang="en-IN"/>
          </a:p>
        </p:txBody>
      </p:sp>
      <p:sp>
        <p:nvSpPr>
          <p:cNvPr id="9" name="Text 7"/>
          <p:cNvSpPr/>
          <p:nvPr/>
        </p:nvSpPr>
        <p:spPr>
          <a:xfrm>
            <a:off x="3841750" y="4116636"/>
            <a:ext cx="2315337" cy="515938"/>
          </a:xfrm>
          <a:prstGeom prst="rect">
            <a:avLst/>
          </a:prstGeom>
          <a:noFill/>
          <a:ln/>
        </p:spPr>
        <p:txBody>
          <a:bodyPr wrap="square" lIns="0" tIns="0" rIns="0" bIns="0" rtlCol="0" anchor="t">
            <a:normAutofit/>
          </a:bodyPr>
          <a:lstStyle/>
          <a:p>
            <a:pPr marL="0" indent="0" algn="l">
              <a:lnSpc>
                <a:spcPts val="3864"/>
              </a:lnSpc>
              <a:buNone/>
            </a:pPr>
            <a:r>
              <a:rPr lang="en-US" sz="3864" b="1" dirty="0">
                <a:solidFill>
                  <a:srgbClr val="8E98AE"/>
                </a:solidFill>
                <a:latin typeface="Times New Roman" panose="02020603050405020304" pitchFamily="18" charset="0"/>
                <a:ea typeface="Space Grotesk" pitchFamily="34" charset="-122"/>
                <a:cs typeface="Times New Roman" panose="02020603050405020304" pitchFamily="18" charset="0"/>
              </a:rPr>
              <a:t>4%</a:t>
            </a:r>
            <a:endParaRPr lang="en-US" sz="3864" dirty="0">
              <a:latin typeface="Times New Roman" panose="02020603050405020304" pitchFamily="18" charset="0"/>
              <a:cs typeface="Times New Roman" panose="02020603050405020304" pitchFamily="18" charset="0"/>
            </a:endParaRPr>
          </a:p>
        </p:txBody>
      </p:sp>
      <p:sp>
        <p:nvSpPr>
          <p:cNvPr id="10" name="Text 8"/>
          <p:cNvSpPr/>
          <p:nvPr/>
        </p:nvSpPr>
        <p:spPr>
          <a:xfrm>
            <a:off x="3841750" y="4657973"/>
            <a:ext cx="2451100" cy="431155"/>
          </a:xfrm>
          <a:prstGeom prst="rect">
            <a:avLst/>
          </a:prstGeom>
          <a:noFill/>
          <a:ln/>
        </p:spPr>
        <p:txBody>
          <a:bodyPr wrap="square" lIns="0" tIns="0" rIns="0" bIns="0" rtlCol="0" anchor="t">
            <a:normAutofit/>
          </a:bodyPr>
          <a:lstStyle/>
          <a:p>
            <a:pPr marL="0" indent="0" algn="l">
              <a:lnSpc>
                <a:spcPts val="1672"/>
              </a:lnSpc>
              <a:buNone/>
            </a:pPr>
            <a:r>
              <a:rPr lang="en-US" sz="1194" dirty="0">
                <a:solidFill>
                  <a:srgbClr val="BFC7D6"/>
                </a:solidFill>
                <a:latin typeface="Times New Roman" panose="02020603050405020304" pitchFamily="18" charset="0"/>
                <a:ea typeface="IBM Plex Sans" pitchFamily="34" charset="-122"/>
                <a:cs typeface="Times New Roman" panose="02020603050405020304" pitchFamily="18" charset="0"/>
              </a:rPr>
              <a:t>valid assignments, penalties only</a:t>
            </a:r>
            <a:endParaRPr lang="en-US" sz="1194" dirty="0">
              <a:latin typeface="Times New Roman" panose="02020603050405020304" pitchFamily="18" charset="0"/>
              <a:cs typeface="Times New Roman" panose="02020603050405020304" pitchFamily="18" charset="0"/>
            </a:endParaRPr>
          </a:p>
        </p:txBody>
      </p:sp>
      <p:sp>
        <p:nvSpPr>
          <p:cNvPr id="11" name="Text 9"/>
          <p:cNvSpPr/>
          <p:nvPr/>
        </p:nvSpPr>
        <p:spPr>
          <a:xfrm>
            <a:off x="812800" y="5451078"/>
            <a:ext cx="5740400" cy="416322"/>
          </a:xfrm>
          <a:prstGeom prst="rect">
            <a:avLst/>
          </a:prstGeom>
          <a:noFill/>
          <a:ln/>
        </p:spPr>
        <p:txBody>
          <a:bodyPr wrap="square" lIns="0" tIns="0" rIns="0" bIns="0" rtlCol="0" anchor="t">
            <a:normAutofit/>
          </a:bodyPr>
          <a:lstStyle/>
          <a:p>
            <a:pPr marL="0" indent="0" algn="l">
              <a:lnSpc>
                <a:spcPts val="1643"/>
              </a:lnSpc>
              <a:buNone/>
            </a:pPr>
            <a:r>
              <a:rPr lang="en-US" sz="1174" dirty="0">
                <a:solidFill>
                  <a:srgbClr val="8E98AE"/>
                </a:solidFill>
                <a:latin typeface="Times New Roman" panose="02020603050405020304" pitchFamily="18" charset="0"/>
                <a:ea typeface="IBM Plex Sans" pitchFamily="34" charset="-122"/>
                <a:cs typeface="Times New Roman" panose="02020603050405020304" pitchFamily="18" charset="0"/>
              </a:rPr>
              <a:t>16 qubits, p = 2, mean of 5 random cities. Only 24 of 65,536 basis states are valid.</a:t>
            </a:r>
            <a:endParaRPr lang="en-US" sz="1174" dirty="0">
              <a:latin typeface="Times New Roman" panose="02020603050405020304" pitchFamily="18" charset="0"/>
              <a:cs typeface="Times New Roman" panose="02020603050405020304" pitchFamily="18" charset="0"/>
            </a:endParaRPr>
          </a:p>
        </p:txBody>
      </p:sp>
      <p:sp>
        <p:nvSpPr>
          <p:cNvPr id="12" name="Shape 10"/>
          <p:cNvSpPr/>
          <p:nvPr/>
        </p:nvSpPr>
        <p:spPr>
          <a:xfrm>
            <a:off x="6556375" y="2466876"/>
            <a:ext cx="4819650" cy="3371949"/>
          </a:xfrm>
          <a:prstGeom prst="roundRect">
            <a:avLst>
              <a:gd name="adj" fmla="val 2919"/>
            </a:avLst>
          </a:prstGeom>
          <a:solidFill>
            <a:srgbClr val="080B15"/>
          </a:solidFill>
          <a:ln w="6350">
            <a:solidFill>
              <a:srgbClr val="26304A"/>
            </a:solidFill>
            <a:prstDash val="solid"/>
          </a:ln>
        </p:spPr>
        <p:txBody>
          <a:bodyPr/>
          <a:lstStyle/>
          <a:p>
            <a:endParaRPr lang="en-IN"/>
          </a:p>
        </p:txBody>
      </p:sp>
      <p:sp>
        <p:nvSpPr>
          <p:cNvPr id="13" name="Text 11"/>
          <p:cNvSpPr/>
          <p:nvPr/>
        </p:nvSpPr>
        <p:spPr>
          <a:xfrm>
            <a:off x="6813550" y="2698651"/>
            <a:ext cx="4434459" cy="23837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ea typeface="JetBrains Mono" pitchFamily="49" charset="-122"/>
                <a:cs typeface="Times New Roman" panose="02020603050405020304" pitchFamily="18" charset="0"/>
              </a:rPr>
              <a:t>qgw/qalgos.py</a:t>
            </a:r>
            <a:endParaRPr lang="en-US" sz="1200" dirty="0">
              <a:cs typeface="Times New Roman" panose="02020603050405020304" pitchFamily="18" charset="0"/>
            </a:endParaRPr>
          </a:p>
        </p:txBody>
      </p:sp>
      <p:sp>
        <p:nvSpPr>
          <p:cNvPr id="14" name="Text 12"/>
          <p:cNvSpPr/>
          <p:nvPr/>
        </p:nvSpPr>
        <p:spPr>
          <a:xfrm>
            <a:off x="6813550" y="3013224"/>
            <a:ext cx="4434459" cy="2619226"/>
          </a:xfrm>
          <a:prstGeom prst="rect">
            <a:avLst/>
          </a:prstGeom>
          <a:noFill/>
          <a:ln/>
        </p:spPr>
        <p:txBody>
          <a:bodyPr wrap="square" lIns="0" tIns="0" rIns="0" bIns="0" rtlCol="0" anchor="t">
            <a:noAutofit/>
          </a:bodyPr>
          <a:lstStyle/>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def _apply_xy(psi, n, a, b, beta):</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a:t>
            </a:r>
            <a:r>
              <a:rPr lang="en-US" sz="1100" dirty="0">
                <a:solidFill>
                  <a:srgbClr val="6B7590"/>
                </a:solidFill>
                <a:ea typeface="JetBrains Mono" pitchFamily="49" charset="-122"/>
                <a:cs typeface="Times New Roman" panose="02020603050405020304" pitchFamily="18" charset="0"/>
              </a:rPr>
              <a:t># rotates only |01⟩ ↔ |10⟩</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i01, i10 = _xy_idx(n, a, b)</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out = psi.copy()</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c = np.cos(beta)</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s = -1j * np.sin(beta)</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out[i01] = c*psi[i01] + s*psi[i10]</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out[i10] = c*psi[i10] + s*psi[i01]</a:t>
            </a:r>
            <a:endParaRPr lang="en-US" sz="1100" dirty="0">
              <a:cs typeface="Times New Roman" panose="02020603050405020304" pitchFamily="18" charset="0"/>
            </a:endParaRPr>
          </a:p>
          <a:p>
            <a:pPr marL="0" indent="0" algn="l">
              <a:lnSpc>
                <a:spcPts val="1854"/>
              </a:lnSpc>
              <a:buNone/>
            </a:pPr>
            <a:r>
              <a:rPr lang="en-US" sz="1100" dirty="0">
                <a:solidFill>
                  <a:srgbClr val="D6DCE8"/>
                </a:solidFill>
                <a:ea typeface="JetBrains Mono" pitchFamily="49" charset="-122"/>
                <a:cs typeface="Times New Roman" panose="02020603050405020304" pitchFamily="18" charset="0"/>
              </a:rPr>
              <a:t>  return out</a:t>
            </a:r>
            <a:endParaRPr lang="en-US" sz="1100" dirty="0">
              <a:cs typeface="Times New Roman" panose="02020603050405020304" pitchFamily="18" charset="0"/>
            </a:endParaRPr>
          </a:p>
          <a:p>
            <a:pPr marL="0" indent="0" algn="l">
              <a:lnSpc>
                <a:spcPts val="1854"/>
              </a:lnSpc>
              <a:buNone/>
            </a:pPr>
            <a:endParaRPr lang="en-US" sz="1100" dirty="0">
              <a:cs typeface="Times New Roman" panose="02020603050405020304" pitchFamily="18" charset="0"/>
            </a:endParaRPr>
          </a:p>
          <a:p>
            <a:pPr marL="0" indent="0" algn="l">
              <a:lnSpc>
                <a:spcPts val="1854"/>
              </a:lnSpc>
              <a:buNone/>
            </a:pPr>
            <a:r>
              <a:rPr lang="en-US" sz="1100" dirty="0">
                <a:solidFill>
                  <a:srgbClr val="6B7590"/>
                </a:solidFill>
                <a:ea typeface="JetBrains Mono" pitchFamily="49" charset="-122"/>
                <a:cs typeface="Times New Roman" panose="02020603050405020304" pitchFamily="18" charset="0"/>
              </a:rPr>
              <a:t># |00⟩, |11⟩ untouched → weight kept</a:t>
            </a:r>
            <a:endParaRPr lang="en-US" sz="1100" dirty="0">
              <a:cs typeface="Times New Roman" panose="02020603050405020304" pitchFamily="18" charset="0"/>
            </a:endParaRPr>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07</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THE HYBRID LOOP</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96 qubits do not fit a NISQ chip, so we solve them 12 at a time</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543076"/>
            <a:ext cx="2139950" cy="1639491"/>
          </a:xfrm>
          <a:prstGeom prst="roundRect">
            <a:avLst>
              <a:gd name="adj" fmla="val 6778"/>
            </a:avLst>
          </a:prstGeom>
          <a:solidFill>
            <a:srgbClr val="121933"/>
          </a:solidFill>
          <a:ln w="6350">
            <a:solidFill>
              <a:srgbClr val="2A3658"/>
            </a:solidFill>
            <a:prstDash val="solid"/>
          </a:ln>
        </p:spPr>
        <p:txBody>
          <a:bodyPr/>
          <a:lstStyle/>
          <a:p>
            <a:endParaRPr lang="en-IN"/>
          </a:p>
        </p:txBody>
      </p:sp>
      <p:sp>
        <p:nvSpPr>
          <p:cNvPr id="5" name="Text 3"/>
          <p:cNvSpPr/>
          <p:nvPr/>
        </p:nvSpPr>
        <p:spPr>
          <a:xfrm>
            <a:off x="1022350" y="2749451"/>
            <a:ext cx="17790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9150"/>
                </a:solidFill>
                <a:latin typeface="Times New Roman" panose="02020603050405020304" pitchFamily="18" charset="0"/>
                <a:ea typeface="JetBrains Mono" pitchFamily="49" charset="-122"/>
                <a:cs typeface="Times New Roman" panose="02020603050405020304" pitchFamily="18" charset="0"/>
              </a:rPr>
              <a:t>1 · freeze</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1022350" y="3051671"/>
            <a:ext cx="1779016"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CE8"/>
                </a:solidFill>
                <a:latin typeface="Times New Roman" panose="02020603050405020304" pitchFamily="18" charset="0"/>
                <a:ea typeface="IBM Plex Sans" pitchFamily="34" charset="-122"/>
                <a:cs typeface="Times New Roman" panose="02020603050405020304" pitchFamily="18" charset="0"/>
              </a:rPr>
              <a:t>Fix 84 variables at the current plan; the rest fold into an exact 12-qubit sub-QUBO.</a:t>
            </a:r>
            <a:endParaRPr lang="en-US" sz="1300" dirty="0">
              <a:latin typeface="Times New Roman" panose="02020603050405020304" pitchFamily="18" charset="0"/>
              <a:cs typeface="Times New Roman" panose="02020603050405020304" pitchFamily="18" charset="0"/>
            </a:endParaRPr>
          </a:p>
        </p:txBody>
      </p:sp>
      <p:pic>
        <p:nvPicPr>
          <p:cNvPr id="7" name="Image 0" descr="arrow-right"/>
          <p:cNvPicPr>
            <a:picLocks noChangeAspect="1"/>
          </p:cNvPicPr>
          <p:nvPr/>
        </p:nvPicPr>
        <p:blipFill>
          <a:blip r:embed="rId3"/>
          <a:srcRect/>
          <a:stretch/>
        </p:blipFill>
        <p:spPr>
          <a:xfrm>
            <a:off x="3086100" y="3261221"/>
            <a:ext cx="406400" cy="203200"/>
          </a:xfrm>
          <a:prstGeom prst="rect">
            <a:avLst/>
          </a:prstGeom>
        </p:spPr>
      </p:pic>
      <p:sp>
        <p:nvSpPr>
          <p:cNvPr id="8" name="Shape 5"/>
          <p:cNvSpPr/>
          <p:nvPr/>
        </p:nvSpPr>
        <p:spPr>
          <a:xfrm>
            <a:off x="3622675" y="2658616"/>
            <a:ext cx="2139950" cy="1408361"/>
          </a:xfrm>
          <a:prstGeom prst="roundRect">
            <a:avLst>
              <a:gd name="adj" fmla="val 7890"/>
            </a:avLst>
          </a:prstGeom>
          <a:solidFill>
            <a:srgbClr val="121933"/>
          </a:solidFill>
          <a:ln w="6350">
            <a:solidFill>
              <a:srgbClr val="2A3658"/>
            </a:solidFill>
            <a:prstDash val="solid"/>
          </a:ln>
        </p:spPr>
        <p:txBody>
          <a:bodyPr/>
          <a:lstStyle/>
          <a:p>
            <a:endParaRPr lang="en-IN"/>
          </a:p>
        </p:txBody>
      </p:sp>
      <p:sp>
        <p:nvSpPr>
          <p:cNvPr id="9" name="Text 6"/>
          <p:cNvSpPr/>
          <p:nvPr/>
        </p:nvSpPr>
        <p:spPr>
          <a:xfrm>
            <a:off x="3829050" y="2864991"/>
            <a:ext cx="17790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9150"/>
                </a:solidFill>
                <a:latin typeface="Times New Roman" panose="02020603050405020304" pitchFamily="18" charset="0"/>
                <a:ea typeface="JetBrains Mono" pitchFamily="49" charset="-122"/>
                <a:cs typeface="Times New Roman" panose="02020603050405020304" pitchFamily="18" charset="0"/>
              </a:rPr>
              <a:t>2 · evolve</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3829050" y="3167211"/>
            <a:ext cx="1779016"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CE8"/>
                </a:solidFill>
                <a:latin typeface="Times New Roman" panose="02020603050405020304" pitchFamily="18" charset="0"/>
                <a:ea typeface="IBM Plex Sans" pitchFamily="34" charset="-122"/>
                <a:cs typeface="Times New Roman" panose="02020603050405020304" pitchFamily="18" charset="0"/>
              </a:rPr>
              <a:t>QAOA, CVaR-QAOA or warm-start QAOA over 2¹² = 4096 plans.</a:t>
            </a:r>
            <a:endParaRPr lang="en-US" sz="1300" dirty="0">
              <a:latin typeface="Times New Roman" panose="02020603050405020304" pitchFamily="18" charset="0"/>
              <a:cs typeface="Times New Roman" panose="02020603050405020304" pitchFamily="18" charset="0"/>
            </a:endParaRPr>
          </a:p>
        </p:txBody>
      </p:sp>
      <p:pic>
        <p:nvPicPr>
          <p:cNvPr id="11" name="Image 1" descr="arrow-right"/>
          <p:cNvPicPr>
            <a:picLocks noChangeAspect="1"/>
          </p:cNvPicPr>
          <p:nvPr/>
        </p:nvPicPr>
        <p:blipFill>
          <a:blip r:embed="rId3"/>
          <a:srcRect/>
          <a:stretch/>
        </p:blipFill>
        <p:spPr>
          <a:xfrm>
            <a:off x="5892800" y="3261221"/>
            <a:ext cx="406400" cy="203200"/>
          </a:xfrm>
          <a:prstGeom prst="rect">
            <a:avLst/>
          </a:prstGeom>
        </p:spPr>
      </p:pic>
      <p:sp>
        <p:nvSpPr>
          <p:cNvPr id="12" name="Shape 8"/>
          <p:cNvSpPr/>
          <p:nvPr/>
        </p:nvSpPr>
        <p:spPr>
          <a:xfrm>
            <a:off x="6429375" y="2658616"/>
            <a:ext cx="2139950" cy="1408361"/>
          </a:xfrm>
          <a:prstGeom prst="roundRect">
            <a:avLst>
              <a:gd name="adj" fmla="val 7890"/>
            </a:avLst>
          </a:prstGeom>
          <a:solidFill>
            <a:srgbClr val="121933"/>
          </a:solidFill>
          <a:ln w="6350">
            <a:solidFill>
              <a:srgbClr val="2A3658"/>
            </a:solidFill>
            <a:prstDash val="solid"/>
          </a:ln>
        </p:spPr>
        <p:txBody>
          <a:bodyPr/>
          <a:lstStyle/>
          <a:p>
            <a:endParaRPr lang="en-IN"/>
          </a:p>
        </p:txBody>
      </p:sp>
      <p:sp>
        <p:nvSpPr>
          <p:cNvPr id="13" name="Text 9"/>
          <p:cNvSpPr/>
          <p:nvPr/>
        </p:nvSpPr>
        <p:spPr>
          <a:xfrm>
            <a:off x="6635750" y="2864991"/>
            <a:ext cx="17790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9150"/>
                </a:solidFill>
                <a:latin typeface="Times New Roman" panose="02020603050405020304" pitchFamily="18" charset="0"/>
                <a:ea typeface="JetBrains Mono" pitchFamily="49" charset="-122"/>
                <a:cs typeface="Times New Roman" panose="02020603050405020304" pitchFamily="18" charset="0"/>
              </a:rPr>
              <a:t>3 · measure</a:t>
            </a:r>
            <a:endParaRPr lang="en-US" sz="1200" dirty="0">
              <a:latin typeface="Times New Roman" panose="02020603050405020304" pitchFamily="18" charset="0"/>
              <a:cs typeface="Times New Roman" panose="02020603050405020304" pitchFamily="18" charset="0"/>
            </a:endParaRPr>
          </a:p>
        </p:txBody>
      </p:sp>
      <p:sp>
        <p:nvSpPr>
          <p:cNvPr id="14" name="Text 10"/>
          <p:cNvSpPr/>
          <p:nvPr/>
        </p:nvSpPr>
        <p:spPr>
          <a:xfrm>
            <a:off x="6635750" y="3167211"/>
            <a:ext cx="1779016"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CE8"/>
                </a:solidFill>
                <a:latin typeface="Times New Roman" panose="02020603050405020304" pitchFamily="18" charset="0"/>
                <a:ea typeface="IBM Plex Sans" pitchFamily="34" charset="-122"/>
                <a:cs typeface="Times New Roman" panose="02020603050405020304" pitchFamily="18" charset="0"/>
              </a:rPr>
              <a:t>Sample 256 shots and keep the cheapest plan seen.</a:t>
            </a:r>
            <a:endParaRPr lang="en-US" sz="1300" dirty="0">
              <a:latin typeface="Times New Roman" panose="02020603050405020304" pitchFamily="18" charset="0"/>
              <a:cs typeface="Times New Roman" panose="02020603050405020304" pitchFamily="18" charset="0"/>
            </a:endParaRPr>
          </a:p>
        </p:txBody>
      </p:sp>
      <p:pic>
        <p:nvPicPr>
          <p:cNvPr id="15" name="Image 2" descr="arrow-right"/>
          <p:cNvPicPr>
            <a:picLocks noChangeAspect="1"/>
          </p:cNvPicPr>
          <p:nvPr/>
        </p:nvPicPr>
        <p:blipFill>
          <a:blip r:embed="rId3"/>
          <a:srcRect/>
          <a:stretch/>
        </p:blipFill>
        <p:spPr>
          <a:xfrm>
            <a:off x="8699500" y="3261221"/>
            <a:ext cx="406400" cy="203200"/>
          </a:xfrm>
          <a:prstGeom prst="rect">
            <a:avLst/>
          </a:prstGeom>
        </p:spPr>
      </p:pic>
      <p:sp>
        <p:nvSpPr>
          <p:cNvPr id="16" name="Shape 11"/>
          <p:cNvSpPr/>
          <p:nvPr/>
        </p:nvSpPr>
        <p:spPr>
          <a:xfrm>
            <a:off x="9236075" y="2658616"/>
            <a:ext cx="2139950" cy="1408361"/>
          </a:xfrm>
          <a:prstGeom prst="roundRect">
            <a:avLst>
              <a:gd name="adj" fmla="val 7890"/>
            </a:avLst>
          </a:prstGeom>
          <a:solidFill>
            <a:srgbClr val="121933"/>
          </a:solidFill>
          <a:ln w="6350">
            <a:solidFill>
              <a:srgbClr val="2A3658"/>
            </a:solidFill>
            <a:prstDash val="solid"/>
          </a:ln>
        </p:spPr>
        <p:txBody>
          <a:bodyPr/>
          <a:lstStyle/>
          <a:p>
            <a:endParaRPr lang="en-IN"/>
          </a:p>
        </p:txBody>
      </p:sp>
      <p:sp>
        <p:nvSpPr>
          <p:cNvPr id="17" name="Text 12"/>
          <p:cNvSpPr/>
          <p:nvPr/>
        </p:nvSpPr>
        <p:spPr>
          <a:xfrm>
            <a:off x="9442450" y="2864991"/>
            <a:ext cx="17790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9150"/>
                </a:solidFill>
                <a:latin typeface="Times New Roman" panose="02020603050405020304" pitchFamily="18" charset="0"/>
                <a:ea typeface="JetBrains Mono" pitchFamily="49" charset="-122"/>
                <a:cs typeface="Times New Roman" panose="02020603050405020304" pitchFamily="18" charset="0"/>
              </a:rPr>
              <a:t>4 · accept</a:t>
            </a:r>
            <a:endParaRPr lang="en-US" sz="1200" dirty="0">
              <a:latin typeface="Times New Roman" panose="02020603050405020304" pitchFamily="18" charset="0"/>
              <a:cs typeface="Times New Roman" panose="02020603050405020304" pitchFamily="18" charset="0"/>
            </a:endParaRPr>
          </a:p>
        </p:txBody>
      </p:sp>
      <p:sp>
        <p:nvSpPr>
          <p:cNvPr id="18" name="Text 13"/>
          <p:cNvSpPr/>
          <p:nvPr/>
        </p:nvSpPr>
        <p:spPr>
          <a:xfrm>
            <a:off x="9442450" y="3167211"/>
            <a:ext cx="1779016"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CE8"/>
                </a:solidFill>
                <a:latin typeface="Times New Roman" panose="02020603050405020304" pitchFamily="18" charset="0"/>
                <a:ea typeface="IBM Plex Sans" pitchFamily="34" charset="-122"/>
                <a:cs typeface="Times New Roman" panose="02020603050405020304" pitchFamily="18" charset="0"/>
              </a:rPr>
              <a:t>Write it back only if the city-wide cost does not rise.</a:t>
            </a:r>
            <a:endParaRPr lang="en-US" sz="1300" dirty="0">
              <a:latin typeface="Times New Roman" panose="02020603050405020304" pitchFamily="18" charset="0"/>
              <a:cs typeface="Times New Roman" panose="02020603050405020304" pitchFamily="18" charset="0"/>
            </a:endParaRPr>
          </a:p>
        </p:txBody>
      </p:sp>
      <p:sp>
        <p:nvSpPr>
          <p:cNvPr id="19" name="Text 14"/>
          <p:cNvSpPr/>
          <p:nvPr/>
        </p:nvSpPr>
        <p:spPr>
          <a:xfrm>
            <a:off x="812800" y="4541341"/>
            <a:ext cx="5284724" cy="79871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E9EDF5"/>
                </a:solidFill>
                <a:latin typeface="Times New Roman" panose="02020603050405020304" pitchFamily="18" charset="0"/>
                <a:ea typeface="IBM Plex Sans" pitchFamily="34" charset="-122"/>
                <a:cs typeface="Times New Roman" panose="02020603050405020304" pitchFamily="18" charset="0"/>
              </a:rPr>
              <a:t>28 windows</a:t>
            </a: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 every pair of neighbouring lights, plus windows that follow each ambulance route. Three sweeps in random order.</a:t>
            </a:r>
            <a:endParaRPr lang="en-US" sz="1400" dirty="0">
              <a:latin typeface="Times New Roman" panose="02020603050405020304" pitchFamily="18" charset="0"/>
              <a:cs typeface="Times New Roman" panose="02020603050405020304" pitchFamily="18" charset="0"/>
            </a:endParaRPr>
          </a:p>
        </p:txBody>
      </p:sp>
      <p:sp>
        <p:nvSpPr>
          <p:cNvPr id="20" name="Text 15"/>
          <p:cNvSpPr/>
          <p:nvPr/>
        </p:nvSpPr>
        <p:spPr>
          <a:xfrm>
            <a:off x="6248400" y="4541341"/>
            <a:ext cx="5284724"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Monotone by construction: the plan cost can only fall, so a noisy quantum step can never make the city worse.</a:t>
            </a:r>
            <a:endParaRPr lang="en-US" sz="1400" dirty="0">
              <a:latin typeface="Times New Roman" panose="02020603050405020304" pitchFamily="18" charset="0"/>
              <a:cs typeface="Times New Roman" panose="02020603050405020304" pitchFamily="18" charset="0"/>
            </a:endParaRPr>
          </a:p>
        </p:txBody>
      </p:sp>
      <p:sp>
        <p:nvSpPr>
          <p:cNvPr id="21"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08</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INSIDE ONE 12-QUBIT WINDOW</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QAOA puts up to 40% of the amplitude on the best of 4096 plans</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4789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3C7"/>
                </a:solidFill>
                <a:latin typeface="Times New Roman" panose="02020603050405020304" pitchFamily="18" charset="0"/>
                <a:ea typeface="IBM Plex Sans" pitchFamily="34" charset="-122"/>
                <a:cs typeface="Times New Roman" panose="02020603050405020304" pitchFamily="18" charset="0"/>
              </a:rPr>
              <a:t>Blind guess</a:t>
            </a:r>
            <a:endParaRPr lang="en-US" sz="1400" dirty="0">
              <a:latin typeface="Times New Roman" panose="02020603050405020304" pitchFamily="18" charset="0"/>
              <a:cs typeface="Times New Roman" panose="02020603050405020304" pitchFamily="18" charset="0"/>
            </a:endParaRPr>
          </a:p>
        </p:txBody>
      </p:sp>
      <p:sp>
        <p:nvSpPr>
          <p:cNvPr id="5" name="Shape 3"/>
          <p:cNvSpPr/>
          <p:nvPr/>
        </p:nvSpPr>
        <p:spPr>
          <a:xfrm>
            <a:off x="3149600" y="2463701"/>
            <a:ext cx="25400" cy="279400"/>
          </a:xfrm>
          <a:prstGeom prst="roundRect">
            <a:avLst>
              <a:gd name="adj" fmla="val 50000"/>
            </a:avLst>
          </a:prstGeom>
          <a:solidFill>
            <a:srgbClr val="8E98AE"/>
          </a:solidFill>
          <a:ln/>
        </p:spPr>
        <p:txBody>
          <a:bodyPr/>
          <a:lstStyle/>
          <a:p>
            <a:endParaRPr lang="en-IN"/>
          </a:p>
        </p:txBody>
      </p:sp>
      <p:sp>
        <p:nvSpPr>
          <p:cNvPr id="6" name="Text 4"/>
          <p:cNvSpPr/>
          <p:nvPr/>
        </p:nvSpPr>
        <p:spPr>
          <a:xfrm>
            <a:off x="3352800" y="2478931"/>
            <a:ext cx="230433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3C7"/>
                </a:solidFill>
                <a:latin typeface="Times New Roman" panose="02020603050405020304" pitchFamily="18" charset="0"/>
                <a:ea typeface="JetBrains Mono" pitchFamily="49" charset="-122"/>
                <a:cs typeface="Times New Roman" panose="02020603050405020304" pitchFamily="18" charset="0"/>
              </a:rPr>
              <a:t>0.027% · ≈ 1 in 4096</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12800" y="28980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IBM Plex Sans" pitchFamily="34" charset="-122"/>
                <a:cs typeface="Times New Roman" panose="02020603050405020304" pitchFamily="18" charset="0"/>
              </a:rPr>
              <a:t>QAOA p = 1</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3149600" y="2882801"/>
            <a:ext cx="2190750" cy="279400"/>
          </a:xfrm>
          <a:prstGeom prst="roundRect">
            <a:avLst>
              <a:gd name="adj" fmla="val 13636"/>
            </a:avLst>
          </a:prstGeom>
          <a:solidFill>
            <a:srgbClr val="3D7FB8"/>
          </a:solidFill>
          <a:ln/>
        </p:spPr>
        <p:txBody>
          <a:bodyPr/>
          <a:lstStyle/>
          <a:p>
            <a:endParaRPr lang="en-IN"/>
          </a:p>
        </p:txBody>
      </p:sp>
      <p:sp>
        <p:nvSpPr>
          <p:cNvPr id="9" name="Text 7"/>
          <p:cNvSpPr/>
          <p:nvPr/>
        </p:nvSpPr>
        <p:spPr>
          <a:xfrm>
            <a:off x="5518150" y="2898031"/>
            <a:ext cx="128016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JetBrains Mono" pitchFamily="49" charset="-122"/>
                <a:cs typeface="Times New Roman" panose="02020603050405020304" pitchFamily="18" charset="0"/>
              </a:rPr>
              <a:t>14% · ×500</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812800" y="33171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IBM Plex Sans" pitchFamily="34" charset="-122"/>
                <a:cs typeface="Times New Roman" panose="02020603050405020304" pitchFamily="18" charset="0"/>
              </a:rPr>
              <a:t>QAOA p = 2</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3149600" y="3301901"/>
            <a:ext cx="4895850" cy="279400"/>
          </a:xfrm>
          <a:prstGeom prst="roundRect">
            <a:avLst>
              <a:gd name="adj" fmla="val 13636"/>
            </a:avLst>
          </a:prstGeom>
          <a:solidFill>
            <a:srgbClr val="4FA6E0"/>
          </a:solidFill>
          <a:ln/>
        </p:spPr>
        <p:txBody>
          <a:bodyPr/>
          <a:lstStyle/>
          <a:p>
            <a:endParaRPr lang="en-IN"/>
          </a:p>
        </p:txBody>
      </p:sp>
      <p:sp>
        <p:nvSpPr>
          <p:cNvPr id="12" name="Text 10"/>
          <p:cNvSpPr/>
          <p:nvPr/>
        </p:nvSpPr>
        <p:spPr>
          <a:xfrm>
            <a:off x="8223250" y="3317131"/>
            <a:ext cx="140821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JetBrains Mono" pitchFamily="49" charset="-122"/>
                <a:cs typeface="Times New Roman" panose="02020603050405020304" pitchFamily="18" charset="0"/>
              </a:rPr>
              <a:t>32% · ×1190</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812800" y="37362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EDF5"/>
                </a:solidFill>
                <a:latin typeface="Times New Roman" panose="02020603050405020304" pitchFamily="18" charset="0"/>
                <a:ea typeface="IBM Plex Sans" pitchFamily="34" charset="-122"/>
                <a:cs typeface="Times New Roman" panose="02020603050405020304" pitchFamily="18" charset="0"/>
              </a:rPr>
              <a:t>QAOA p = 3</a:t>
            </a:r>
            <a:endParaRPr lang="en-US" sz="1400" dirty="0">
              <a:latin typeface="Times New Roman" panose="02020603050405020304" pitchFamily="18" charset="0"/>
              <a:cs typeface="Times New Roman" panose="02020603050405020304" pitchFamily="18" charset="0"/>
            </a:endParaRPr>
          </a:p>
        </p:txBody>
      </p:sp>
      <p:sp>
        <p:nvSpPr>
          <p:cNvPr id="14" name="Shape 12"/>
          <p:cNvSpPr/>
          <p:nvPr/>
        </p:nvSpPr>
        <p:spPr>
          <a:xfrm>
            <a:off x="3149600" y="3721001"/>
            <a:ext cx="6153150" cy="279400"/>
          </a:xfrm>
          <a:prstGeom prst="roundRect">
            <a:avLst>
              <a:gd name="adj" fmla="val 13636"/>
            </a:avLst>
          </a:prstGeom>
          <a:solidFill>
            <a:srgbClr val="6CCBFF"/>
          </a:solidFill>
          <a:ln/>
        </p:spPr>
        <p:txBody>
          <a:bodyPr/>
          <a:lstStyle/>
          <a:p>
            <a:endParaRPr lang="en-IN"/>
          </a:p>
        </p:txBody>
      </p:sp>
      <p:sp>
        <p:nvSpPr>
          <p:cNvPr id="15" name="Text 13"/>
          <p:cNvSpPr/>
          <p:nvPr/>
        </p:nvSpPr>
        <p:spPr>
          <a:xfrm>
            <a:off x="9480550" y="3736231"/>
            <a:ext cx="140821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EDF5"/>
                </a:solidFill>
                <a:latin typeface="Times New Roman" panose="02020603050405020304" pitchFamily="18" charset="0"/>
                <a:ea typeface="JetBrains Mono" pitchFamily="49" charset="-122"/>
                <a:cs typeface="Times New Roman" panose="02020603050405020304" pitchFamily="18" charset="0"/>
              </a:rPr>
              <a:t>40% · ×1500</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1553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IBM Plex Sans" pitchFamily="34" charset="-122"/>
                <a:cs typeface="Times New Roman" panose="02020603050405020304" pitchFamily="18" charset="0"/>
              </a:rPr>
              <a:t>Warm-start p = 2</a:t>
            </a:r>
            <a:endParaRPr lang="en-US" sz="1400" dirty="0">
              <a:latin typeface="Times New Roman" panose="02020603050405020304" pitchFamily="18" charset="0"/>
              <a:cs typeface="Times New Roman" panose="02020603050405020304" pitchFamily="18" charset="0"/>
            </a:endParaRPr>
          </a:p>
        </p:txBody>
      </p:sp>
      <p:sp>
        <p:nvSpPr>
          <p:cNvPr id="17" name="Shape 15"/>
          <p:cNvSpPr/>
          <p:nvPr/>
        </p:nvSpPr>
        <p:spPr>
          <a:xfrm>
            <a:off x="3149600" y="4140101"/>
            <a:ext cx="6350000" cy="279400"/>
          </a:xfrm>
          <a:prstGeom prst="roundRect">
            <a:avLst>
              <a:gd name="adj" fmla="val 13636"/>
            </a:avLst>
          </a:prstGeom>
          <a:solidFill>
            <a:srgbClr val="FF9150"/>
          </a:solidFill>
          <a:ln/>
        </p:spPr>
        <p:txBody>
          <a:bodyPr/>
          <a:lstStyle/>
          <a:p>
            <a:endParaRPr lang="en-IN"/>
          </a:p>
        </p:txBody>
      </p:sp>
      <p:sp>
        <p:nvSpPr>
          <p:cNvPr id="18" name="Text 16"/>
          <p:cNvSpPr/>
          <p:nvPr/>
        </p:nvSpPr>
        <p:spPr>
          <a:xfrm>
            <a:off x="9677400" y="4155331"/>
            <a:ext cx="51208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JetBrains Mono" pitchFamily="49" charset="-122"/>
                <a:cs typeface="Times New Roman" panose="02020603050405020304" pitchFamily="18" charset="0"/>
              </a:rPr>
              <a:t>41%*</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812800" y="4574431"/>
            <a:ext cx="22237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IBM Plex Sans" pitchFamily="34" charset="-122"/>
                <a:cs typeface="Times New Roman" panose="02020603050405020304" pitchFamily="18" charset="0"/>
              </a:rPr>
              <a:t>CVaR-QAOA p = 3</a:t>
            </a:r>
            <a:endParaRPr lang="en-US" sz="1400" dirty="0">
              <a:latin typeface="Times New Roman" panose="02020603050405020304" pitchFamily="18" charset="0"/>
              <a:cs typeface="Times New Roman" panose="02020603050405020304" pitchFamily="18" charset="0"/>
            </a:endParaRPr>
          </a:p>
        </p:txBody>
      </p:sp>
      <p:sp>
        <p:nvSpPr>
          <p:cNvPr id="20" name="Shape 18"/>
          <p:cNvSpPr/>
          <p:nvPr/>
        </p:nvSpPr>
        <p:spPr>
          <a:xfrm>
            <a:off x="3149600" y="4559201"/>
            <a:ext cx="2095500" cy="279400"/>
          </a:xfrm>
          <a:prstGeom prst="roundRect">
            <a:avLst>
              <a:gd name="adj" fmla="val 13636"/>
            </a:avLst>
          </a:prstGeom>
          <a:solidFill>
            <a:srgbClr val="2C4F75"/>
          </a:solidFill>
          <a:ln/>
        </p:spPr>
        <p:txBody>
          <a:bodyPr/>
          <a:lstStyle/>
          <a:p>
            <a:endParaRPr lang="en-IN"/>
          </a:p>
        </p:txBody>
      </p:sp>
      <p:sp>
        <p:nvSpPr>
          <p:cNvPr id="21" name="Text 19"/>
          <p:cNvSpPr/>
          <p:nvPr/>
        </p:nvSpPr>
        <p:spPr>
          <a:xfrm>
            <a:off x="5422900" y="4574431"/>
            <a:ext cx="128016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DF5"/>
                </a:solidFill>
                <a:latin typeface="Times New Roman" panose="02020603050405020304" pitchFamily="18" charset="0"/>
                <a:ea typeface="JetBrains Mono" pitchFamily="49" charset="-122"/>
                <a:cs typeface="Times New Roman" panose="02020603050405020304" pitchFamily="18" charset="0"/>
              </a:rPr>
              <a:t>14% · ×530</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812800" y="5118001"/>
            <a:ext cx="1046480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8E98AE"/>
                </a:solidFill>
                <a:latin typeface="Times New Roman" panose="02020603050405020304" pitchFamily="18" charset="0"/>
                <a:ea typeface="IBM Plex Sans" pitchFamily="34" charset="-122"/>
                <a:cs typeface="Times New Roman" panose="02020603050405020304" pitchFamily="18" charset="0"/>
              </a:rPr>
              <a:t>Ideal statevector, mean over 10 windows. Each depth starts from the previous depth’s angles (INTERP). *Warm-start begins at the rule-based plan, already in the top 1.2% of each window, so part of its lift is inherited. CVaR optimises the tail, not P(best).</a:t>
            </a:r>
            <a:endParaRPr lang="en-US" sz="1200" dirty="0">
              <a:latin typeface="Times New Roman" panose="02020603050405020304" pitchFamily="18" charset="0"/>
              <a:cs typeface="Times New Roman" panose="02020603050405020304" pitchFamily="18" charset="0"/>
            </a:endParaRPr>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09</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1266924"/>
            <a:ext cx="504926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CITY-WIDE RESULT</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683445"/>
            <a:ext cx="5049266" cy="153407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Every quantum variant reaches the proved optimum</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812800" y="3395315"/>
            <a:ext cx="5049266"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6CCBFF"/>
                </a:solidFill>
                <a:latin typeface="Times New Roman" panose="02020603050405020304" pitchFamily="18" charset="0"/>
                <a:ea typeface="Space Grotesk" pitchFamily="34" charset="-122"/>
                <a:cs typeface="Times New Roman" panose="02020603050405020304" pitchFamily="18" charset="0"/>
              </a:rPr>
              <a:t>1593</a:t>
            </a:r>
            <a:endParaRPr lang="en-US" sz="8000" dirty="0">
              <a:latin typeface="Times New Roman" panose="02020603050405020304" pitchFamily="18" charset="0"/>
              <a:cs typeface="Times New Roman" panose="02020603050405020304" pitchFamily="18" charset="0"/>
            </a:endParaRPr>
          </a:p>
        </p:txBody>
      </p:sp>
      <p:sp>
        <p:nvSpPr>
          <p:cNvPr id="5" name="Text 3"/>
          <p:cNvSpPr/>
          <p:nvPr/>
        </p:nvSpPr>
        <p:spPr>
          <a:xfrm>
            <a:off x="812800" y="4614515"/>
            <a:ext cx="5049266"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Exact optimum of the 96-variable QUBO, proved by HiGHS. Random sampling of the same windows stops short: the circuits, not luck, find it.</a:t>
            </a:r>
            <a:endParaRPr lang="en-US" sz="14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84900" y="1789708"/>
          <a:ext cx="5194300" cy="3088088"/>
        </p:xfrm>
        <a:graphic>
          <a:graphicData uri="http://schemas.openxmlformats.org/drawingml/2006/table">
            <a:tbl>
              <a:tblPr/>
              <a:tblGrid>
                <a:gridCol w="3220466">
                  <a:extLst>
                    <a:ext uri="{9D8B030D-6E8A-4147-A177-3AD203B41FA5}">
                      <a16:colId xmlns:a16="http://schemas.microsoft.com/office/drawing/2014/main" val="20000"/>
                    </a:ext>
                  </a:extLst>
                </a:gridCol>
                <a:gridCol w="1973834">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Final cost</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61"/>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QAOA windows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1593</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CVaR-QAOA windows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1593</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Warm-start QAOA windows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1593</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Random best-of-256 windows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A9B3C7"/>
                          </a:solidFill>
                          <a:latin typeface="IBM Plex Sans" pitchFamily="34" charset="0"/>
                          <a:ea typeface="IBM Plex Sans" pitchFamily="34" charset="-122"/>
                          <a:cs typeface="IBM Plex Sans" pitchFamily="34" charset="-120"/>
                        </a:rPr>
                        <a:t>1606–1627</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Rule-based preemption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A9B3C7"/>
                          </a:solidFill>
                          <a:latin typeface="IBM Plex Sans" pitchFamily="34" charset="0"/>
                          <a:ea typeface="IBM Plex Sans" pitchFamily="34" charset="-122"/>
                          <a:cs typeface="IBM Plex Sans" pitchFamily="34" charset="-120"/>
                        </a:rPr>
                        <a:t>1734</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Queue-actuated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A9B3C7"/>
                          </a:solidFill>
                          <a:latin typeface="IBM Plex Sans" pitchFamily="34" charset="0"/>
                          <a:ea typeface="IBM Plex Sans" pitchFamily="34" charset="-122"/>
                          <a:cs typeface="IBM Plex Sans" pitchFamily="34" charset="-120"/>
                        </a:rPr>
                        <a:t>1679</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A9B3C7"/>
                          </a:solidFill>
                          <a:latin typeface="IBM Plex Sans" pitchFamily="34" charset="0"/>
                          <a:ea typeface="IBM Plex Sans" pitchFamily="34" charset="-122"/>
                          <a:cs typeface="IBM Plex Sans" pitchFamily="34" charset="-120"/>
                        </a:rPr>
                        <a:t>Fixed-time</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A9B3C7"/>
                          </a:solidFill>
                          <a:latin typeface="IBM Plex Sans" pitchFamily="34" charset="0"/>
                          <a:ea typeface="IBM Plex Sans" pitchFamily="34" charset="-122"/>
                          <a:cs typeface="IBM Plex Sans" pitchFamily="34" charset="-120"/>
                        </a:rPr>
                        <a:t>2423</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10</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HARDWARE COST · IBM HEAVY-HEX</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The signal survives noise at p = 2</a:t>
            </a:r>
            <a:endParaRPr lang="en-US" sz="36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3511"/>
          <a:ext cx="10553700" cy="1792934"/>
        </p:xfrm>
        <a:graphic>
          <a:graphicData uri="http://schemas.openxmlformats.org/drawingml/2006/table">
            <a:tbl>
              <a:tblPr/>
              <a:tblGrid>
                <a:gridCol w="1055370">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gridCol w="2005203">
                  <a:extLst>
                    <a:ext uri="{9D8B030D-6E8A-4147-A177-3AD203B41FA5}">
                      <a16:colId xmlns:a16="http://schemas.microsoft.com/office/drawing/2014/main" val="20004"/>
                    </a:ext>
                  </a:extLst>
                </a:gridCol>
                <a:gridCol w="2005203">
                  <a:extLst>
                    <a:ext uri="{9D8B030D-6E8A-4147-A177-3AD203B41FA5}">
                      <a16:colId xmlns:a16="http://schemas.microsoft.com/office/drawing/2014/main" val="20005"/>
                    </a:ext>
                  </a:extLst>
                </a:gridCol>
              </a:tblGrid>
              <a:tr h="634901">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Depth</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2q gates, ideal 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2q gates, Sherbrooke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Depth, Sherbrooke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Ideal P(best)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Noisy P(best)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057"/>
                      </a:solidFill>
                      <a:prstDash val="solid"/>
                      <a:round/>
                      <a:headEnd type="none" w="med" len="med"/>
                      <a:tailEnd type="none" w="med" len="med"/>
                    </a:lnL>
                    <a:lnR w="12700" cap="flat" cmpd="sng" algn="ctr">
                      <a:solidFill>
                        <a:srgbClr val="4E5057"/>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4E5057"/>
                      </a:solidFill>
                      <a:prstDash val="solid"/>
                      <a:round/>
                      <a:headEnd type="none" w="med" len="med"/>
                      <a:tailEnd type="none" w="med" len="med"/>
                    </a:lnB>
                    <a:solidFill>
                      <a:srgbClr val="1D202A"/>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p = 1</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80</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173</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548</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9.3%</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FF9150"/>
                          </a:solidFill>
                          <a:latin typeface="IBM Plex Sans" pitchFamily="34" charset="0"/>
                          <a:ea typeface="IBM Plex Sans" pitchFamily="34" charset="-122"/>
                          <a:cs typeface="IBM Plex Sans" pitchFamily="34" charset="-120"/>
                        </a:rPr>
                        <a:t>3.1%</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4E5057"/>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p = 2</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160</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371</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825</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26.5%</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FF9150"/>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p = 3</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240</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581</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1011</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38.4%</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tc>
                  <a:txBody>
                    <a:bodyPr/>
                    <a:lstStyle/>
                    <a:p>
                      <a:pPr marL="0" indent="0" algn="r">
                        <a:lnSpc>
                          <a:spcPts val="1960"/>
                        </a:lnSpc>
                        <a:buNone/>
                      </a:pPr>
                      <a:r>
                        <a:rPr lang="en-US" sz="1400" dirty="0">
                          <a:solidFill>
                            <a:srgbClr val="8E98AE"/>
                          </a:solidFill>
                          <a:latin typeface="IBM Plex Sans" pitchFamily="34" charset="0"/>
                          <a:ea typeface="IBM Plex Sans" pitchFamily="34" charset="-122"/>
                          <a:cs typeface="IBM Plex Sans" pitchFamily="34" charset="-120"/>
                        </a:rPr>
                        <a:t>not run</a:t>
                      </a:r>
                      <a:endParaRPr lang="en-US" sz="1400" dirty="0">
                        <a:latin typeface="IBM Plex Sans" charset="0"/>
                        <a:ea typeface="IBM Plex Sans" charset="0"/>
                        <a:cs typeface="IBM Plex Sans" charset="0"/>
                      </a:endParaRPr>
                    </a:p>
                  </a:txBody>
                  <a:tcPr marL="62230" marR="62230" marT="62230" marB="62230">
                    <a:lnL w="12700" cap="flat" cmpd="sng" algn="ctr">
                      <a:solidFill>
                        <a:srgbClr val="3F4149"/>
                      </a:solidFill>
                      <a:prstDash val="solid"/>
                      <a:round/>
                      <a:headEnd type="none" w="med" len="med"/>
                      <a:tailEnd type="none" w="med" len="med"/>
                    </a:lnL>
                    <a:lnR w="12700" cap="flat" cmpd="sng" algn="ctr">
                      <a:solidFill>
                        <a:srgbClr val="3F4149"/>
                      </a:solidFill>
                      <a:prstDash val="solid"/>
                      <a:round/>
                      <a:headEnd type="none" w="med" len="med"/>
                      <a:tailEnd type="none" w="med" len="med"/>
                    </a:lnR>
                    <a:lnT w="12700" cap="flat" cmpd="sng" algn="ctr">
                      <a:solidFill>
                        <a:srgbClr val="3F4149"/>
                      </a:solidFill>
                      <a:prstDash val="solid"/>
                      <a:round/>
                      <a:headEnd type="none" w="med" len="med"/>
                      <a:tailEnd type="none" w="med" len="med"/>
                    </a:lnT>
                    <a:lnB w="12700" cap="flat" cmpd="sng" algn="ctr">
                      <a:solidFill>
                        <a:srgbClr val="3F414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5975" y="4049018"/>
            <a:ext cx="5175250" cy="1383010"/>
          </a:xfrm>
          <a:prstGeom prst="roundRect">
            <a:avLst>
              <a:gd name="adj" fmla="val 7117"/>
            </a:avLst>
          </a:prstGeom>
          <a:solidFill>
            <a:srgbClr val="121933"/>
          </a:solidFill>
          <a:ln w="6350">
            <a:solidFill>
              <a:srgbClr val="2A3658"/>
            </a:solidFill>
            <a:prstDash val="solid"/>
          </a:ln>
        </p:spPr>
        <p:txBody>
          <a:bodyPr/>
          <a:lstStyle/>
          <a:p>
            <a:endParaRPr lang="en-IN"/>
          </a:p>
        </p:txBody>
      </p:sp>
      <p:sp>
        <p:nvSpPr>
          <p:cNvPr id="6" name="Text 3"/>
          <p:cNvSpPr/>
          <p:nvPr/>
        </p:nvSpPr>
        <p:spPr>
          <a:xfrm>
            <a:off x="1022350" y="4255393"/>
            <a:ext cx="490537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F9150"/>
                </a:solidFill>
                <a:latin typeface="Times New Roman" panose="02020603050405020304" pitchFamily="18" charset="0"/>
                <a:ea typeface="Space Grotesk" pitchFamily="34" charset="-122"/>
                <a:cs typeface="Times New Roman" panose="02020603050405020304" pitchFamily="18" charset="0"/>
              </a:rPr>
              <a:t>≈ 90×</a:t>
            </a:r>
            <a:endParaRPr lang="en-US" sz="3600" dirty="0">
              <a:latin typeface="Times New Roman" panose="02020603050405020304" pitchFamily="18" charset="0"/>
              <a:cs typeface="Times New Roman" panose="02020603050405020304" pitchFamily="18" charset="0"/>
            </a:endParaRPr>
          </a:p>
        </p:txBody>
      </p:sp>
      <p:sp>
        <p:nvSpPr>
          <p:cNvPr id="7" name="Text 4"/>
          <p:cNvSpPr/>
          <p:nvPr/>
        </p:nvSpPr>
        <p:spPr>
          <a:xfrm>
            <a:off x="1022350" y="4763393"/>
            <a:ext cx="4905375"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7D6"/>
                </a:solidFill>
                <a:latin typeface="Times New Roman" panose="02020603050405020304" pitchFamily="18" charset="0"/>
                <a:ea typeface="IBM Plex Sans" pitchFamily="34" charset="-122"/>
                <a:cs typeface="Times New Roman" panose="02020603050405020304" pitchFamily="18" charset="0"/>
              </a:rPr>
              <a:t>a blind guess, with the noise model of a 127-qubit Eagle r3 calibration (FakeSherbrooke)</a:t>
            </a:r>
            <a:endParaRPr lang="en-US" sz="1300" dirty="0">
              <a:latin typeface="Times New Roman" panose="02020603050405020304" pitchFamily="18" charset="0"/>
              <a:cs typeface="Times New Roman" panose="02020603050405020304" pitchFamily="18" charset="0"/>
            </a:endParaRPr>
          </a:p>
        </p:txBody>
      </p:sp>
      <p:sp>
        <p:nvSpPr>
          <p:cNvPr id="8" name="Shape 5"/>
          <p:cNvSpPr/>
          <p:nvPr/>
        </p:nvSpPr>
        <p:spPr>
          <a:xfrm>
            <a:off x="6200775" y="4049018"/>
            <a:ext cx="5175250" cy="1383010"/>
          </a:xfrm>
          <a:prstGeom prst="roundRect">
            <a:avLst>
              <a:gd name="adj" fmla="val 7117"/>
            </a:avLst>
          </a:prstGeom>
          <a:solidFill>
            <a:srgbClr val="121933"/>
          </a:solidFill>
          <a:ln w="6350">
            <a:solidFill>
              <a:srgbClr val="2A3658"/>
            </a:solidFill>
            <a:prstDash val="solid"/>
          </a:ln>
        </p:spPr>
        <p:txBody>
          <a:bodyPr/>
          <a:lstStyle/>
          <a:p>
            <a:endParaRPr lang="en-IN"/>
          </a:p>
        </p:txBody>
      </p:sp>
      <p:sp>
        <p:nvSpPr>
          <p:cNvPr id="9" name="Text 6"/>
          <p:cNvSpPr/>
          <p:nvPr/>
        </p:nvSpPr>
        <p:spPr>
          <a:xfrm>
            <a:off x="6407150" y="4255393"/>
            <a:ext cx="490537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CCBFF"/>
                </a:solidFill>
                <a:latin typeface="Times New Roman" panose="02020603050405020304" pitchFamily="18" charset="0"/>
                <a:ea typeface="Space Grotesk" pitchFamily="34" charset="-122"/>
                <a:cs typeface="Times New Roman" panose="02020603050405020304" pitchFamily="18" charset="0"/>
              </a:rPr>
              <a:t>ready</a:t>
            </a:r>
            <a:endParaRPr lang="en-US" sz="3600" dirty="0">
              <a:latin typeface="Times New Roman" panose="02020603050405020304" pitchFamily="18" charset="0"/>
              <a:cs typeface="Times New Roman" panose="02020603050405020304" pitchFamily="18" charset="0"/>
            </a:endParaRPr>
          </a:p>
        </p:txBody>
      </p:sp>
      <p:sp>
        <p:nvSpPr>
          <p:cNvPr id="10" name="Text 7"/>
          <p:cNvSpPr/>
          <p:nvPr/>
        </p:nvSpPr>
        <p:spPr>
          <a:xfrm>
            <a:off x="6407150" y="4763393"/>
            <a:ext cx="4905375"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7D6"/>
                </a:solidFill>
                <a:latin typeface="Times New Roman" panose="02020603050405020304" pitchFamily="18" charset="0"/>
                <a:ea typeface="IBM Plex Sans" pitchFamily="34" charset="-122"/>
                <a:cs typeface="Times New Roman" panose="02020603050405020304" pitchFamily="18" charset="0"/>
              </a:rPr>
              <a:t>run_on_ibm.py sends the same window to a real backend through SamplerV2</a:t>
            </a:r>
            <a:endParaRPr lang="en-US" sz="1300" dirty="0">
              <a:latin typeface="Times New Roman" panose="02020603050405020304" pitchFamily="18" charset="0"/>
              <a:cs typeface="Times New Roman" panose="02020603050405020304" pitchFamily="18" charset="0"/>
            </a:endParaRPr>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11</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CLOSED-LOOP CHECK · SUMO TRAFFIC SIMULATOR</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The model is tested where it can fail: real vehicle dynamics</a:t>
            </a:r>
            <a:endParaRPr lang="en-US" sz="36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51001"/>
          <a:ext cx="10553700" cy="1544044"/>
        </p:xfrm>
        <a:graphic>
          <a:graphicData uri="http://schemas.openxmlformats.org/drawingml/2006/table">
            <a:tbl>
              <a:tblPr/>
              <a:tblGrid>
                <a:gridCol w="1688592">
                  <a:extLst>
                    <a:ext uri="{9D8B030D-6E8A-4147-A177-3AD203B41FA5}">
                      <a16:colId xmlns:a16="http://schemas.microsoft.com/office/drawing/2014/main" val="20000"/>
                    </a:ext>
                  </a:extLst>
                </a:gridCol>
                <a:gridCol w="2216277">
                  <a:extLst>
                    <a:ext uri="{9D8B030D-6E8A-4147-A177-3AD203B41FA5}">
                      <a16:colId xmlns:a16="http://schemas.microsoft.com/office/drawing/2014/main" val="20001"/>
                    </a:ext>
                  </a:extLst>
                </a:gridCol>
                <a:gridCol w="2216277">
                  <a:extLst>
                    <a:ext uri="{9D8B030D-6E8A-4147-A177-3AD203B41FA5}">
                      <a16:colId xmlns:a16="http://schemas.microsoft.com/office/drawing/2014/main" val="20002"/>
                    </a:ext>
                  </a:extLst>
                </a:gridCol>
                <a:gridCol w="2216277">
                  <a:extLst>
                    <a:ext uri="{9D8B030D-6E8A-4147-A177-3AD203B41FA5}">
                      <a16:colId xmlns:a16="http://schemas.microsoft.com/office/drawing/2014/main" val="20003"/>
                    </a:ext>
                  </a:extLst>
                </a:gridCol>
                <a:gridCol w="2216277">
                  <a:extLst>
                    <a:ext uri="{9D8B030D-6E8A-4147-A177-3AD203B41FA5}">
                      <a16:colId xmlns:a16="http://schemas.microsoft.com/office/drawing/2014/main" val="20004"/>
                    </a:ext>
                  </a:extLst>
                </a:gridCol>
              </a:tblGrid>
              <a:tr h="386011">
                <a:tc>
                  <a:txBody>
                    <a:bodyPr/>
                    <a:lstStyle/>
                    <a:p>
                      <a:pPr marL="0" indent="0">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City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Ambulance, optimised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61"/>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Ambulance, rule-based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61"/>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Other cars, optimised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61"/>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tc>
                  <a:txBody>
                    <a:bodyPr/>
                    <a:lstStyle/>
                    <a:p>
                      <a:pPr marL="0" indent="0" algn="r">
                        <a:lnSpc>
                          <a:spcPts val="1960"/>
                        </a:lnSpc>
                        <a:buNone/>
                      </a:pPr>
                      <a:r>
                        <a:rPr lang="en-US" sz="1400" b="1" dirty="0">
                          <a:solidFill>
                            <a:srgbClr val="6CCBFF"/>
                          </a:solidFill>
                          <a:latin typeface="IBM Plex Sans" pitchFamily="34" charset="0"/>
                          <a:ea typeface="IBM Plex Sans" pitchFamily="34" charset="-122"/>
                          <a:cs typeface="IBM Plex Sans" pitchFamily="34" charset="-120"/>
                        </a:rPr>
                        <a:t>Other cars, rule-based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525461"/>
                      </a:solidFill>
                      <a:prstDash val="solid"/>
                      <a:round/>
                      <a:headEnd type="none" w="med" len="med"/>
                      <a:tailEnd type="none" w="med" len="med"/>
                    </a:lnL>
                    <a:lnR w="12700" cap="flat" cmpd="sng" algn="ctr">
                      <a:solidFill>
                        <a:srgbClr val="525461"/>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525461"/>
                      </a:solidFill>
                      <a:prstDash val="solid"/>
                      <a:round/>
                      <a:headEnd type="none" w="med" len="med"/>
                      <a:tailEnd type="none" w="med" len="med"/>
                    </a:lnB>
                    <a:solidFill>
                      <a:srgbClr val="222637"/>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City 1</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51.9 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FF9150"/>
                          </a:solidFill>
                          <a:latin typeface="IBM Plex Sans" pitchFamily="34" charset="0"/>
                          <a:ea typeface="IBM Plex Sans" pitchFamily="34" charset="-122"/>
                          <a:cs typeface="IBM Plex Sans" pitchFamily="34" charset="-120"/>
                        </a:rPr>
                        <a:t>41.7 s · faster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6CCBFF"/>
                          </a:solidFill>
                          <a:latin typeface="IBM Plex Sans" pitchFamily="34" charset="0"/>
                          <a:ea typeface="IBM Plex Sans" pitchFamily="34" charset="-122"/>
                          <a:cs typeface="IBM Plex Sans" pitchFamily="34" charset="-120"/>
                        </a:rPr>
                        <a:t>34.8 s · less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41.2 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525461"/>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City 2</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6CCBFF"/>
                          </a:solidFill>
                          <a:latin typeface="IBM Plex Sans" pitchFamily="34" charset="0"/>
                          <a:ea typeface="IBM Plex Sans" pitchFamily="34" charset="-122"/>
                          <a:cs typeface="IBM Plex Sans" pitchFamily="34" charset="-120"/>
                        </a:rPr>
                        <a:t>22.2 s · faster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26.3 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6CCBFF"/>
                          </a:solidFill>
                          <a:latin typeface="IBM Plex Sans" pitchFamily="34" charset="0"/>
                          <a:ea typeface="IBM Plex Sans" pitchFamily="34" charset="-122"/>
                          <a:cs typeface="IBM Plex Sans" pitchFamily="34" charset="-120"/>
                        </a:rPr>
                        <a:t>39.1 s · less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49.1 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E9EDF5"/>
                          </a:solidFill>
                          <a:latin typeface="IBM Plex Sans" pitchFamily="34" charset="0"/>
                          <a:ea typeface="IBM Plex Sans" pitchFamily="34" charset="-122"/>
                          <a:cs typeface="IBM Plex Sans" pitchFamily="34" charset="-120"/>
                        </a:rPr>
                        <a:t>City 3</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18.5 s · tie</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18.5 s · tie</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6CCBFF"/>
                          </a:solidFill>
                          <a:latin typeface="IBM Plex Sans" pitchFamily="34" charset="0"/>
                          <a:ea typeface="IBM Plex Sans" pitchFamily="34" charset="-122"/>
                          <a:cs typeface="IBM Plex Sans" pitchFamily="34" charset="-120"/>
                        </a:rPr>
                        <a:t>36.0 s · less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tc>
                  <a:txBody>
                    <a:bodyPr/>
                    <a:lstStyle/>
                    <a:p>
                      <a:pPr marL="0" indent="0" algn="r">
                        <a:lnSpc>
                          <a:spcPts val="1960"/>
                        </a:lnSpc>
                        <a:buNone/>
                      </a:pPr>
                      <a:r>
                        <a:rPr lang="en-US" sz="1400" dirty="0">
                          <a:solidFill>
                            <a:srgbClr val="E9EDF5"/>
                          </a:solidFill>
                          <a:latin typeface="IBM Plex Sans" pitchFamily="34" charset="0"/>
                          <a:ea typeface="IBM Plex Sans" pitchFamily="34" charset="-122"/>
                          <a:cs typeface="IBM Plex Sans" pitchFamily="34" charset="-120"/>
                        </a:rPr>
                        <a:t>39.1 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654"/>
                      </a:solidFill>
                      <a:prstDash val="solid"/>
                      <a:round/>
                      <a:headEnd type="none" w="med" len="med"/>
                      <a:tailEnd type="none" w="med" len="med"/>
                    </a:lnL>
                    <a:lnR w="12700" cap="flat" cmpd="sng" algn="ctr">
                      <a:solidFill>
                        <a:srgbClr val="434654"/>
                      </a:solidFill>
                      <a:prstDash val="solid"/>
                      <a:round/>
                      <a:headEnd type="none" w="med" len="med"/>
                      <a:tailEnd type="none" w="med" len="med"/>
                    </a:lnR>
                    <a:lnT w="12700" cap="flat" cmpd="sng" algn="ctr">
                      <a:solidFill>
                        <a:srgbClr val="434654"/>
                      </a:solidFill>
                      <a:prstDash val="solid"/>
                      <a:round/>
                      <a:headEnd type="none" w="med" len="med"/>
                      <a:tailEnd type="none" w="med" len="med"/>
                    </a:lnT>
                    <a:lnB w="12700" cap="flat" cmpd="sng" algn="ctr">
                      <a:solidFill>
                        <a:srgbClr val="43465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249043"/>
            <a:ext cx="5284724"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E9EDF5"/>
                </a:solidFill>
                <a:latin typeface="Times New Roman" panose="02020603050405020304" pitchFamily="18" charset="0"/>
                <a:ea typeface="IBM Plex Sans" pitchFamily="34" charset="-122"/>
                <a:cs typeface="Times New Roman" panose="02020603050405020304" pitchFamily="18" charset="0"/>
              </a:rPr>
              <a:t>Ambulances: 1 win, 1 tie, 1 loss.</a:t>
            </a: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 Severity-weighted mean trip time, 3 simulator seeds each.</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6248400" y="4249043"/>
            <a:ext cx="5284724"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E9EDF5"/>
                </a:solidFill>
                <a:latin typeface="Times New Roman" panose="02020603050405020304" pitchFamily="18" charset="0"/>
                <a:ea typeface="IBM Plex Sans" pitchFamily="34" charset="-122"/>
                <a:cs typeface="Times New Roman" panose="02020603050405020304" pitchFamily="18" charset="0"/>
              </a:rPr>
              <a:t>Everyone else waits less in all three.</a:t>
            </a: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 Every plan simulated for the same 160 s window.</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12</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55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A2550"/>
              </a:gs>
              <a:gs pos="70000">
                <a:srgbClr val="0A0D18"/>
              </a:gs>
            </a:gsLst>
            <a:lin ang="2700000" scaled="0"/>
          </a:gradFill>
          <a:ln/>
        </p:spPr>
        <p:txBody>
          <a:bodyPr/>
          <a:lstStyle/>
          <a:p>
            <a:endParaRPr lang="en-IN"/>
          </a:p>
        </p:txBody>
      </p:sp>
      <p:sp>
        <p:nvSpPr>
          <p:cNvPr id="3" name="Text 1"/>
          <p:cNvSpPr/>
          <p:nvPr/>
        </p:nvSpPr>
        <p:spPr>
          <a:xfrm>
            <a:off x="812800" y="142120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9150"/>
                </a:solidFill>
                <a:latin typeface="Times New Roman" panose="02020603050405020304" pitchFamily="18" charset="0"/>
                <a:ea typeface="JetBrains Mono" pitchFamily="49" charset="-122"/>
                <a:cs typeface="Times New Roman" panose="02020603050405020304" pitchFamily="18" charset="0"/>
              </a:rPr>
              <a:t>ARRIVAL UNCERTAINTY</a:t>
            </a:r>
            <a:endParaRPr lang="en-US" sz="12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888530"/>
            <a:ext cx="9156700"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Plan for the spread, not the point estimate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3148310"/>
            <a:ext cx="2451298"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8E98AE"/>
                </a:solidFill>
                <a:latin typeface="Times New Roman" panose="02020603050405020304" pitchFamily="18" charset="0"/>
                <a:ea typeface="Space Grotesk" pitchFamily="34" charset="-122"/>
                <a:cs typeface="Times New Roman" panose="02020603050405020304" pitchFamily="18" charset="0"/>
              </a:rPr>
              <a:t>1.35</a:t>
            </a:r>
            <a:endParaRPr lang="en-US" sz="8000" dirty="0">
              <a:latin typeface="Times New Roman" panose="02020603050405020304" pitchFamily="18" charset="0"/>
              <a:cs typeface="Times New Roman" panose="02020603050405020304" pitchFamily="18" charset="0"/>
            </a:endParaRPr>
          </a:p>
        </p:txBody>
      </p:sp>
      <p:sp>
        <p:nvSpPr>
          <p:cNvPr id="6" name="Text 4"/>
          <p:cNvSpPr/>
          <p:nvPr/>
        </p:nvSpPr>
        <p:spPr>
          <a:xfrm>
            <a:off x="812800" y="4215110"/>
            <a:ext cx="24512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missed greens, point plan</a:t>
            </a:r>
            <a:endParaRPr lang="en-US" sz="1400" dirty="0">
              <a:latin typeface="Times New Roman" panose="02020603050405020304" pitchFamily="18" charset="0"/>
              <a:cs typeface="Times New Roman" panose="02020603050405020304" pitchFamily="18" charset="0"/>
            </a:endParaRPr>
          </a:p>
        </p:txBody>
      </p:sp>
      <p:pic>
        <p:nvPicPr>
          <p:cNvPr id="7" name="Image 0" descr="arrow-right"/>
          <p:cNvPicPr>
            <a:picLocks noChangeAspect="1"/>
          </p:cNvPicPr>
          <p:nvPr/>
        </p:nvPicPr>
        <p:blipFill>
          <a:blip r:embed="rId3"/>
          <a:srcRect/>
          <a:stretch/>
        </p:blipFill>
        <p:spPr>
          <a:xfrm>
            <a:off x="3264098" y="4083000"/>
            <a:ext cx="762000" cy="381000"/>
          </a:xfrm>
          <a:prstGeom prst="rect">
            <a:avLst/>
          </a:prstGeom>
        </p:spPr>
      </p:pic>
      <p:sp>
        <p:nvSpPr>
          <p:cNvPr id="8" name="Text 5"/>
          <p:cNvSpPr/>
          <p:nvPr/>
        </p:nvSpPr>
        <p:spPr>
          <a:xfrm>
            <a:off x="4432498" y="3148310"/>
            <a:ext cx="2622004"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6CCBFF"/>
                </a:solidFill>
                <a:latin typeface="Times New Roman" panose="02020603050405020304" pitchFamily="18" charset="0"/>
                <a:ea typeface="Space Grotesk" pitchFamily="34" charset="-122"/>
                <a:cs typeface="Times New Roman" panose="02020603050405020304" pitchFamily="18" charset="0"/>
              </a:rPr>
              <a:t>0.58</a:t>
            </a:r>
            <a:endParaRPr lang="en-US" sz="8000" dirty="0">
              <a:latin typeface="Times New Roman" panose="02020603050405020304" pitchFamily="18" charset="0"/>
              <a:cs typeface="Times New Roman" panose="02020603050405020304" pitchFamily="18" charset="0"/>
            </a:endParaRPr>
          </a:p>
        </p:txBody>
      </p:sp>
      <p:sp>
        <p:nvSpPr>
          <p:cNvPr id="9" name="Text 6"/>
          <p:cNvSpPr/>
          <p:nvPr/>
        </p:nvSpPr>
        <p:spPr>
          <a:xfrm>
            <a:off x="4432498" y="4215110"/>
            <a:ext cx="262200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missed greens, ±1-slot plan</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7054503" y="3823940"/>
            <a:ext cx="1382613"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F9150"/>
                </a:solidFill>
                <a:latin typeface="Times New Roman" panose="02020603050405020304" pitchFamily="18" charset="0"/>
                <a:ea typeface="Space Grotesk" pitchFamily="34" charset="-122"/>
                <a:cs typeface="Times New Roman" panose="02020603050405020304" pitchFamily="18" charset="0"/>
              </a:rPr>
              <a:t>−57%</a:t>
            </a:r>
            <a:endParaRPr lang="en-US" sz="3600" dirty="0">
              <a:latin typeface="Times New Roman" panose="02020603050405020304" pitchFamily="18" charset="0"/>
              <a:cs typeface="Times New Roman" panose="02020603050405020304" pitchFamily="18" charset="0"/>
            </a:endParaRPr>
          </a:p>
        </p:txBody>
      </p:sp>
      <p:sp>
        <p:nvSpPr>
          <p:cNvPr id="11" name="Text 8"/>
          <p:cNvSpPr/>
          <p:nvPr/>
        </p:nvSpPr>
        <p:spPr>
          <a:xfrm>
            <a:off x="812800" y="4718000"/>
            <a:ext cx="915670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The request weight is an expectation over arrival slot t−1, t, t+1 (0.2 / 0.6 / 0.2). Severity-weighted missed greens, 6 cities × 1000 sampled arrivals, evaluated in the model.</a:t>
            </a:r>
            <a:endParaRPr lang="en-US" sz="1400" dirty="0">
              <a:latin typeface="Times New Roman" panose="02020603050405020304" pitchFamily="18" charset="0"/>
              <a:cs typeface="Times New Roman" panose="02020603050405020304" pitchFamily="18" charset="0"/>
            </a:endParaRPr>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13</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CLAIMS</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1785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E9EDF5"/>
                </a:solidFill>
                <a:latin typeface="Times New Roman" panose="02020603050405020304" pitchFamily="18" charset="0"/>
                <a:cs typeface="Times New Roman" panose="02020603050405020304" pitchFamily="18" charset="0"/>
              </a:rPr>
              <a:t>What this shows, and what it does not</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812800" y="1986211"/>
            <a:ext cx="5181600" cy="2298700"/>
          </a:xfrm>
          <a:prstGeom prst="roundRect">
            <a:avLst>
              <a:gd name="adj" fmla="val 4420"/>
            </a:avLst>
          </a:prstGeom>
          <a:solidFill>
            <a:srgbClr val="121933"/>
          </a:solidFill>
          <a:ln/>
        </p:spPr>
        <p:txBody>
          <a:bodyPr/>
          <a:lstStyle/>
          <a:p>
            <a:endParaRPr lang="en-IN"/>
          </a:p>
        </p:txBody>
      </p:sp>
      <p:sp>
        <p:nvSpPr>
          <p:cNvPr id="5" name="Shape 3"/>
          <p:cNvSpPr/>
          <p:nvPr/>
        </p:nvSpPr>
        <p:spPr>
          <a:xfrm>
            <a:off x="812800" y="1986211"/>
            <a:ext cx="5181600" cy="2298700"/>
          </a:xfrm>
          <a:custGeom>
            <a:avLst/>
            <a:gdLst/>
            <a:ahLst/>
            <a:cxnLst/>
            <a:rect l="l" t="t" r="r" b="b"/>
            <a:pathLst>
              <a:path w="5181600" h="2298700">
                <a:moveTo>
                  <a:pt x="0" y="101600"/>
                </a:moveTo>
                <a:lnTo>
                  <a:pt x="0" y="101600"/>
                </a:lnTo>
                <a:arcTo wR="101600" hR="101600" stAng="10800000" swAng="5400000"/>
                <a:lnTo>
                  <a:pt x="5080000" y="0"/>
                </a:lnTo>
                <a:arcTo wR="101600" hR="101600" stAng="16200000" swAng="5400000"/>
                <a:lnTo>
                  <a:pt x="5181600" y="101600"/>
                </a:lnTo>
                <a:arcTo wR="101600" hR="76200" stAng="0" swAng="-5400000"/>
                <a:lnTo>
                  <a:pt x="101600" y="25400"/>
                </a:lnTo>
                <a:arcTo wR="101600" hR="76200" stAng="16200000" swAng="-5400000"/>
                <a:close/>
              </a:path>
            </a:pathLst>
          </a:custGeom>
          <a:solidFill>
            <a:srgbClr val="6CCBFF"/>
          </a:solidFill>
          <a:ln/>
        </p:spPr>
        <p:txBody>
          <a:bodyPr/>
          <a:lstStyle/>
          <a:p>
            <a:endParaRPr lang="en-IN"/>
          </a:p>
        </p:txBody>
      </p:sp>
      <p:sp>
        <p:nvSpPr>
          <p:cNvPr id="6" name="Text 4"/>
          <p:cNvSpPr/>
          <p:nvPr/>
        </p:nvSpPr>
        <p:spPr>
          <a:xfrm>
            <a:off x="1066800" y="2265611"/>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CCBFF"/>
                </a:solidFill>
                <a:latin typeface="Times New Roman" panose="02020603050405020304" pitchFamily="18" charset="0"/>
                <a:ea typeface="Space Grotesk" pitchFamily="34" charset="-122"/>
                <a:cs typeface="Times New Roman" panose="02020603050405020304" pitchFamily="18" charset="0"/>
              </a:rPr>
              <a:t>Shown</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1145032" y="2697411"/>
            <a:ext cx="4727956" cy="13589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96-variable QUBO, tested vs direct cost</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XY mixer: 9.5× more valid dispatches</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Hybrid loop reaches the proved optimum</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Gate counts and noise on an IBM layout</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Simulator check, losses included</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6197600" y="1986211"/>
            <a:ext cx="5181600" cy="2298700"/>
          </a:xfrm>
          <a:prstGeom prst="roundRect">
            <a:avLst>
              <a:gd name="adj" fmla="val 4420"/>
            </a:avLst>
          </a:prstGeom>
          <a:solidFill>
            <a:srgbClr val="121933"/>
          </a:solidFill>
          <a:ln/>
        </p:spPr>
        <p:txBody>
          <a:bodyPr/>
          <a:lstStyle/>
          <a:p>
            <a:endParaRPr lang="en-IN"/>
          </a:p>
        </p:txBody>
      </p:sp>
      <p:sp>
        <p:nvSpPr>
          <p:cNvPr id="9" name="Shape 7"/>
          <p:cNvSpPr/>
          <p:nvPr/>
        </p:nvSpPr>
        <p:spPr>
          <a:xfrm>
            <a:off x="6197600" y="1986211"/>
            <a:ext cx="5181600" cy="2298700"/>
          </a:xfrm>
          <a:custGeom>
            <a:avLst/>
            <a:gdLst/>
            <a:ahLst/>
            <a:cxnLst/>
            <a:rect l="l" t="t" r="r" b="b"/>
            <a:pathLst>
              <a:path w="5181600" h="2298700">
                <a:moveTo>
                  <a:pt x="0" y="101600"/>
                </a:moveTo>
                <a:lnTo>
                  <a:pt x="0" y="101600"/>
                </a:lnTo>
                <a:arcTo wR="101600" hR="101600" stAng="10800000" swAng="5400000"/>
                <a:lnTo>
                  <a:pt x="5080000" y="0"/>
                </a:lnTo>
                <a:arcTo wR="101600" hR="101600" stAng="16200000" swAng="5400000"/>
                <a:lnTo>
                  <a:pt x="5181600" y="101600"/>
                </a:lnTo>
                <a:arcTo wR="101600" hR="76200" stAng="0" swAng="-5400000"/>
                <a:lnTo>
                  <a:pt x="101600" y="25400"/>
                </a:lnTo>
                <a:arcTo wR="101600" hR="76200" stAng="16200000" swAng="-5400000"/>
                <a:close/>
              </a:path>
            </a:pathLst>
          </a:custGeom>
          <a:solidFill>
            <a:srgbClr val="FF9150"/>
          </a:solidFill>
          <a:ln/>
        </p:spPr>
        <p:txBody>
          <a:bodyPr/>
          <a:lstStyle/>
          <a:p>
            <a:endParaRPr lang="en-IN"/>
          </a:p>
        </p:txBody>
      </p:sp>
      <p:sp>
        <p:nvSpPr>
          <p:cNvPr id="10" name="Text 8"/>
          <p:cNvSpPr/>
          <p:nvPr/>
        </p:nvSpPr>
        <p:spPr>
          <a:xfrm>
            <a:off x="6451600" y="2265611"/>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9150"/>
                </a:solidFill>
                <a:latin typeface="Times New Roman" panose="02020603050405020304" pitchFamily="18" charset="0"/>
                <a:ea typeface="Space Grotesk" pitchFamily="34" charset="-122"/>
                <a:cs typeface="Times New Roman" panose="02020603050405020304" pitchFamily="18" charset="0"/>
              </a:rPr>
              <a:t>Not claimed</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6529832" y="2697411"/>
            <a:ext cx="4727956" cy="10922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Quantum advantage: HiGHS takes &lt; 1 s</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Hardware runs: script written, not run</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Real streets: the city is synthetic</a:t>
            </a:r>
            <a:endParaRPr lang="en-US" sz="1400" dirty="0">
              <a:latin typeface="Times New Roman" panose="02020603050405020304" pitchFamily="18" charset="0"/>
              <a:cs typeface="Times New Roman" panose="02020603050405020304" pitchFamily="18" charset="0"/>
            </a:endParaRPr>
          </a:p>
          <a:p>
            <a:pPr marL="175768" indent="-175768" algn="l">
              <a:lnSpc>
                <a:spcPts val="2100"/>
              </a:lnSpc>
              <a:buSzPct val="100000"/>
              <a:buChar char="•"/>
            </a:pPr>
            <a:r>
              <a:rPr lang="en-US" sz="1400" dirty="0">
                <a:solidFill>
                  <a:srgbClr val="D6DCE8"/>
                </a:solidFill>
                <a:latin typeface="Times New Roman" panose="02020603050405020304" pitchFamily="18" charset="0"/>
                <a:ea typeface="IBM Plex Sans" pitchFamily="34" charset="-122"/>
                <a:cs typeface="Times New Roman" panose="02020603050405020304" pitchFamily="18" charset="0"/>
              </a:rPr>
              <a:t>Closed loop: one open-loop 90 s plan</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812800" y="458971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7D6"/>
                </a:solidFill>
                <a:latin typeface="Times New Roman" panose="02020603050405020304" pitchFamily="18" charset="0"/>
                <a:ea typeface="IBM Plex Sans" pitchFamily="34" charset="-122"/>
                <a:cs typeface="Times New Roman" panose="02020603050405020304" pitchFamily="18" charset="0"/>
              </a:rPr>
              <a:t>The value is a formulation and a loop that scale with the hardware: the same code runs larger windows as qubit counts and fidelities grow.</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Times New Roman" panose="02020603050405020304" pitchFamily="18" charset="0"/>
                <a:ea typeface="JetBrains Mono" pitchFamily="49" charset="-122"/>
                <a:cs typeface="Times New Roman" panose="02020603050405020304" pitchFamily="18" charset="0"/>
              </a:rPr>
              <a:t>Quantum Green Wave · 14</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14681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CCBFF"/>
                </a:solidFill>
                <a:latin typeface="Times New Roman" panose="02020603050405020304" pitchFamily="18" charset="0"/>
                <a:ea typeface="JetBrains Mono" pitchFamily="49" charset="-122"/>
                <a:cs typeface="Times New Roman" panose="02020603050405020304" pitchFamily="18" charset="0"/>
              </a:rPr>
              <a:t>NEXT</a:t>
            </a:r>
            <a:endParaRPr lang="en-US" sz="1200" dirty="0">
              <a:latin typeface="Times New Roman" panose="02020603050405020304" pitchFamily="18" charset="0"/>
              <a:cs typeface="Times New Roman" panose="02020603050405020304" pitchFamily="18" charset="0"/>
            </a:endParaRPr>
          </a:p>
        </p:txBody>
      </p:sp>
      <p:sp>
        <p:nvSpPr>
          <p:cNvPr id="3" name="Shape 1"/>
          <p:cNvSpPr/>
          <p:nvPr/>
        </p:nvSpPr>
        <p:spPr>
          <a:xfrm>
            <a:off x="825500" y="1986260"/>
            <a:ext cx="0" cy="944860"/>
          </a:xfrm>
          <a:prstGeom prst="line">
            <a:avLst/>
          </a:prstGeom>
          <a:noFill/>
          <a:ln w="25400">
            <a:solidFill>
              <a:srgbClr val="FF9150"/>
            </a:solidFill>
            <a:prstDash val="solid"/>
          </a:ln>
        </p:spPr>
        <p:txBody>
          <a:bodyPr/>
          <a:lstStyle/>
          <a:p>
            <a:endParaRPr lang="en-IN"/>
          </a:p>
        </p:txBody>
      </p:sp>
      <p:sp>
        <p:nvSpPr>
          <p:cNvPr id="4" name="Text 2"/>
          <p:cNvSpPr/>
          <p:nvPr/>
        </p:nvSpPr>
        <p:spPr>
          <a:xfrm>
            <a:off x="1041400" y="2037060"/>
            <a:ext cx="32527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Run on IBM hardware</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041400" y="2418060"/>
            <a:ext cx="3252775"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One 12-qubit window through SamplerV2, compared to the noisy simulation.</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4415334" y="1986260"/>
            <a:ext cx="0" cy="944860"/>
          </a:xfrm>
          <a:prstGeom prst="line">
            <a:avLst/>
          </a:prstGeom>
          <a:noFill/>
          <a:ln w="25400">
            <a:solidFill>
              <a:srgbClr val="FF9150"/>
            </a:solidFill>
            <a:prstDash val="solid"/>
          </a:ln>
        </p:spPr>
        <p:txBody>
          <a:bodyPr/>
          <a:lstStyle/>
          <a:p>
            <a:endParaRPr lang="en-IN"/>
          </a:p>
        </p:txBody>
      </p:sp>
      <p:sp>
        <p:nvSpPr>
          <p:cNvPr id="7" name="Text 5"/>
          <p:cNvSpPr/>
          <p:nvPr/>
        </p:nvSpPr>
        <p:spPr>
          <a:xfrm>
            <a:off x="4631234" y="2037060"/>
            <a:ext cx="325282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Rolling re-plan</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4631234" y="2418060"/>
            <a:ext cx="325282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Re-solve every slot as ambulances report their position.</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8005217" y="1986260"/>
            <a:ext cx="0" cy="944860"/>
          </a:xfrm>
          <a:prstGeom prst="line">
            <a:avLst/>
          </a:prstGeom>
          <a:noFill/>
          <a:ln w="25400">
            <a:solidFill>
              <a:srgbClr val="FF9150"/>
            </a:solidFill>
            <a:prstDash val="solid"/>
          </a:ln>
        </p:spPr>
        <p:txBody>
          <a:bodyPr/>
          <a:lstStyle/>
          <a:p>
            <a:endParaRPr lang="en-IN"/>
          </a:p>
        </p:txBody>
      </p:sp>
      <p:sp>
        <p:nvSpPr>
          <p:cNvPr id="10" name="Text 8"/>
          <p:cNvSpPr/>
          <p:nvPr/>
        </p:nvSpPr>
        <p:spPr>
          <a:xfrm>
            <a:off x="8221117" y="2037060"/>
            <a:ext cx="325282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9EDF5"/>
                </a:solidFill>
                <a:latin typeface="Times New Roman" panose="02020603050405020304" pitchFamily="18" charset="0"/>
                <a:ea typeface="Space Grotesk" pitchFamily="34" charset="-122"/>
                <a:cs typeface="Times New Roman" panose="02020603050405020304" pitchFamily="18" charset="0"/>
              </a:rPr>
              <a:t>Real streets</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8221117" y="2418060"/>
            <a:ext cx="325282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3C7"/>
                </a:solidFill>
                <a:latin typeface="Times New Roman" panose="02020603050405020304" pitchFamily="18" charset="0"/>
                <a:ea typeface="IBM Plex Sans" pitchFamily="34" charset="-122"/>
                <a:cs typeface="Times New Roman" panose="02020603050405020304" pitchFamily="18" charset="0"/>
              </a:rPr>
              <a:t>OpenStreetMap networks and measured traffic counts.</a:t>
            </a:r>
            <a:endParaRPr lang="en-US" sz="1300" dirty="0">
              <a:latin typeface="Times New Roman" panose="02020603050405020304" pitchFamily="18" charset="0"/>
              <a:cs typeface="Times New Roman" panose="02020603050405020304" pitchFamily="18" charset="0"/>
            </a:endParaRPr>
          </a:p>
        </p:txBody>
      </p:sp>
      <p:sp>
        <p:nvSpPr>
          <p:cNvPr id="12" name="Text 10"/>
          <p:cNvSpPr>
            <a:spLocks noGrp="1"/>
          </p:cNvSpPr>
          <p:nvPr>
            <p:ph type="title"/>
          </p:nvPr>
        </p:nvSpPr>
        <p:spPr>
          <a:xfrm>
            <a:off x="812800" y="323592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E9EDF5"/>
                </a:solidFill>
                <a:latin typeface="Times New Roman" panose="02020603050405020304" pitchFamily="18" charset="0"/>
                <a:cs typeface="Times New Roman" panose="02020603050405020304" pitchFamily="18" charset="0"/>
              </a:rPr>
              <a:t>Every light a qubit. </a:t>
            </a:r>
            <a:r>
              <a:rPr lang="en-US" sz="6000" b="1" i="0" kern="0" spc="-100" dirty="0">
                <a:solidFill>
                  <a:srgbClr val="6CCBFF"/>
                </a:solidFill>
                <a:latin typeface="Times New Roman" panose="02020603050405020304" pitchFamily="18" charset="0"/>
                <a:cs typeface="Times New Roman" panose="02020603050405020304" pitchFamily="18" charset="0"/>
              </a:rPr>
              <a:t>Every ambulance a green wave.</a:t>
            </a:r>
            <a:endParaRPr lang="en-US" sz="6000" dirty="0">
              <a:latin typeface="Times New Roman" panose="02020603050405020304" pitchFamily="18" charset="0"/>
              <a:cs typeface="Times New Roman" panose="02020603050405020304" pitchFamily="18" charset="0"/>
            </a:endParaRPr>
          </a:p>
        </p:txBody>
      </p:sp>
      <p:sp>
        <p:nvSpPr>
          <p:cNvPr id="13" name="Text 11"/>
          <p:cNvSpPr/>
          <p:nvPr/>
        </p:nvSpPr>
        <p:spPr>
          <a:xfrm>
            <a:off x="812800" y="514092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98AE"/>
                </a:solidFill>
                <a:latin typeface="Times New Roman" panose="02020603050405020304" pitchFamily="18" charset="0"/>
                <a:ea typeface="IBM Plex Sans" pitchFamily="34" charset="-122"/>
                <a:cs typeface="Times New Roman" panose="02020603050405020304" pitchFamily="18" charset="0"/>
              </a:rPr>
              <a:t>Team Voyager · Thank you</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theme/theme1.xml><?xml version="1.0" encoding="utf-8"?>
<a:theme xmlns:a="http://schemas.openxmlformats.org/drawingml/2006/main" name="Quantum Green Wave">
  <a:themeElements>
    <a:clrScheme name="Quantum Green Wave">
      <a:dk1>
        <a:srgbClr val="0F1426"/>
      </a:dk1>
      <a:lt1>
        <a:srgbClr val="E9EDF5"/>
      </a:lt1>
      <a:dk2>
        <a:srgbClr val="252A3B"/>
      </a:dk2>
      <a:lt2>
        <a:srgbClr val="B3B7C1"/>
      </a:lt2>
      <a:accent1>
        <a:srgbClr val="6CCBFF"/>
      </a:accent1>
      <a:accent2>
        <a:srgbClr val="FF9150"/>
      </a:accent2>
      <a:accent3>
        <a:srgbClr val="1A2550"/>
      </a:accent3>
      <a:accent4>
        <a:srgbClr val="16204A"/>
      </a:accent4>
      <a:accent5>
        <a:srgbClr val="3D7FB8"/>
      </a:accent5>
      <a:accent6>
        <a:srgbClr val="4FA6E0"/>
      </a:accent6>
      <a:hlink>
        <a:srgbClr val="0563C1"/>
      </a:hlink>
      <a:folHlink>
        <a:srgbClr val="954F72"/>
      </a:folHlink>
    </a:clrScheme>
    <a:fontScheme name="Quantum Green Wav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2799</Words>
  <Application>Microsoft Office PowerPoint</Application>
  <PresentationFormat>Widescreen</PresentationFormat>
  <Paragraphs>272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IBM Plex Sans</vt:lpstr>
      <vt:lpstr>JetBrains Mono</vt:lpstr>
      <vt:lpstr>Arial</vt:lpstr>
      <vt:lpstr>Space Grotesk</vt:lpstr>
      <vt:lpstr>Times New Roman</vt:lpstr>
      <vt:lpstr>Quantum Green Wave</vt:lpstr>
      <vt:lpstr>Quantum Green Wave</vt:lpstr>
      <vt:lpstr>An ambulance at a red light waits like everyone else.</vt:lpstr>
      <vt:lpstr>Two coupled problems, two quantum encodings</vt:lpstr>
      <vt:lpstr>One qubit per light per 15-second slot</vt:lpstr>
      <vt:lpstr>Five terms, all at most quadratic: an unconstrained QUBO</vt:lpstr>
      <vt:lpstr>Built term by term, then proved</vt:lpstr>
      <vt:lpstr>The constraint becomes a symmetry of the mixer</vt:lpstr>
      <vt:lpstr>96 qubits do not fit a NISQ chip, so we solve them 12 at a time</vt:lpstr>
      <vt:lpstr>QAOA puts up to 40% of the amplitude on the best of 4096 plans</vt:lpstr>
      <vt:lpstr>Every quantum variant reaches the proved optimum</vt:lpstr>
      <vt:lpstr>The signal survives noise at p = 2</vt:lpstr>
      <vt:lpstr>The model is tested where it can fail: real vehicle dynamics</vt:lpstr>
      <vt:lpstr>Plan for the spread, not the point estimate</vt:lpstr>
      <vt:lpstr>What this shows, and what it does not</vt:lpstr>
      <vt:lpstr>Every light a qubit. Every ambulance a green wave.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Green Wave</dc:title>
  <dc:subject/>
  <dc:creator>trisha prasad</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trisha prasad</cp:lastModifiedBy>
  <cp:revision>3</cp:revision>
  <dcterms:created xsi:type="dcterms:W3CDTF">2026-10-23T17:06:22Z</dcterms:created>
  <dcterms:modified xsi:type="dcterms:W3CDTF">2026-10-23T17:29:02Z</dcterms:modified>
</cp:coreProperties>
</file>